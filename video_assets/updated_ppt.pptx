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embedTrueTypeFonts="1" saveSubsetFonts="1" strictFirstAndLastChars="0">
  <p:sldMasterIdLst>
    <p:sldMasterId id="2147483648" r:id="rId1"/>
  </p:sldMasterIdLst>
  <p:notesMasterIdLst>
    <p:notesMasterId r:id="rId16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 /><Relationship Id="rId18" Type="http://schemas.openxmlformats.org/officeDocument/2006/relationships/tableStyles" Target="tableStyles.xml" /><Relationship Id="rId1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6491923" name="Google Shape;3;n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73624277" name="Google Shape;4;n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>
              <a:defRPr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5745485" name="Google Shape;81;p1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468386040" name="Google Shape;82;p1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5506448" name="Google Shape;88;p2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961054818" name="Google Shape;89;p2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9472115" name="Google Shape;118;p3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041081203" name="Google Shape;119;p3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2793169" name="Google Shape;126;p4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368511182" name="Google Shape;127;p4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4818634" name="Google Shape;158;p5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809080274" name="Google Shape;159;p5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5611385" name="Google Shape;197;p6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67732059" name="Google Shape;198;p6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7188769" name="Google Shape;220;p7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479320297" name="Google Shape;221;p7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1168356" name="Google Shape;240;p8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566484294" name="Google Shape;241;p8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102266" name="Google Shape;266;p9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600623935" name="Google Shape;267;p9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942919" name="Google Shape;308;p10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56023275" name="Google Shape;309;p10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5356026" name="Google Shape;334;p11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320742686" name="Google Shape;335;p11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9185052" name="Google Shape;347;p12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965766320" name="Google Shape;348;p12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lank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062287" name="Google Shape;12;p2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66563262" name="Google Shape;13;p2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93719337" name="Google Shape;14;p2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Slide" preserve="0" showMasterPhAnim="0" showMasterSp="1" type="title" userDrawn="1">
  <p:cSld name="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3653920" name="Google Shape;16;p3"/>
          <p:cNvSpPr txBox="1"/>
          <p:nvPr>
            <p:ph type="ctrTitle"/>
          </p:nvPr>
        </p:nvSpPr>
        <p:spPr bwMode="auto"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66771657" name="Google Shape;17;p3"/>
          <p:cNvSpPr txBox="1"/>
          <p:nvPr>
            <p:ph type="subTitle" idx="1"/>
          </p:nvPr>
        </p:nvSpPr>
        <p:spPr bwMode="auto">
          <a:xfrm>
            <a:off x="1371600" y="3886200"/>
            <a:ext cx="6400800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559251856" name="Google Shape;18;p3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02316565" name="Google Shape;19;p3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8711483" name="Google Shape;20;p3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Content" preserve="0" showMasterPhAnim="0" showMasterSp="1" type="obj" userDrawn="1">
  <p:cSld name="OBJEC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5741335" name="Google Shape;22;p4"/>
          <p:cNvSpPr txBox="1"/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56280389" name="Google Shape;23;p4"/>
          <p:cNvSpPr txBox="1"/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26896161" name="Google Shape;24;p4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33875833" name="Google Shape;25;p4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84340029" name="Google Shape;26;p4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ection Header" preserve="0" showMasterPhAnim="0" showMasterSp="1" type="secHead" userDrawn="1">
  <p:cSld name="SECTION_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5740197" name="Google Shape;28;p5"/>
          <p:cNvSpPr txBox="1"/>
          <p:nvPr>
            <p:ph type="title"/>
          </p:nvPr>
        </p:nvSpPr>
        <p:spPr bwMode="auto"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88831376" name="Google Shape;29;p5"/>
          <p:cNvSpPr txBox="1"/>
          <p:nvPr>
            <p:ph type="body" idx="1"/>
          </p:nvPr>
        </p:nvSpPr>
        <p:spPr bwMode="auto"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538041077" name="Google Shape;30;p5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46558475" name="Google Shape;31;p5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06074991" name="Google Shape;32;p5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wo Content" preserve="0" showMasterPhAnim="0" showMasterSp="1" type="twoObj" userDrawn="1">
  <p:cSld name="TWO_OBJECT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4932730" name="Google Shape;34;p6"/>
          <p:cNvSpPr txBox="1"/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21643167" name="Google Shape;35;p6"/>
          <p:cNvSpPr txBox="1"/>
          <p:nvPr>
            <p:ph type="body" idx="1"/>
          </p:nvPr>
        </p:nvSpPr>
        <p:spPr bwMode="auto"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1863991983" name="Google Shape;36;p6"/>
          <p:cNvSpPr txBox="1"/>
          <p:nvPr>
            <p:ph type="body" idx="2"/>
          </p:nvPr>
        </p:nvSpPr>
        <p:spPr bwMode="auto"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1916950566" name="Google Shape;37;p6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53783337" name="Google Shape;38;p6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8855499" name="Google Shape;39;p6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omparison" preserve="0" showMasterPhAnim="0" showMasterSp="1" type="twoTxTwoObj" userDrawn="1">
  <p:cSld name="TWO_OBJECTS_WITH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2163318" name="Google Shape;41;p7"/>
          <p:cNvSpPr txBox="1"/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9326948" name="Google Shape;42;p7"/>
          <p:cNvSpPr txBox="1"/>
          <p:nvPr>
            <p:ph type="body" idx="1"/>
          </p:nvPr>
        </p:nvSpPr>
        <p:spPr bwMode="auto"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>
              <a:defRPr/>
            </a:pPr>
            <a:endParaRPr/>
          </a:p>
        </p:txBody>
      </p:sp>
      <p:sp>
        <p:nvSpPr>
          <p:cNvPr id="20218268" name="Google Shape;43;p7"/>
          <p:cNvSpPr txBox="1"/>
          <p:nvPr>
            <p:ph type="body" idx="2"/>
          </p:nvPr>
        </p:nvSpPr>
        <p:spPr bwMode="auto"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pPr>
              <a:defRPr/>
            </a:pPr>
            <a:endParaRPr/>
          </a:p>
        </p:txBody>
      </p:sp>
      <p:sp>
        <p:nvSpPr>
          <p:cNvPr id="534305807" name="Google Shape;44;p7"/>
          <p:cNvSpPr txBox="1"/>
          <p:nvPr>
            <p:ph type="body" idx="3"/>
          </p:nvPr>
        </p:nvSpPr>
        <p:spPr bwMode="auto"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>
              <a:defRPr/>
            </a:pPr>
            <a:endParaRPr/>
          </a:p>
        </p:txBody>
      </p:sp>
      <p:sp>
        <p:nvSpPr>
          <p:cNvPr id="1378508450" name="Google Shape;45;p7"/>
          <p:cNvSpPr txBox="1"/>
          <p:nvPr>
            <p:ph type="body" idx="4"/>
          </p:nvPr>
        </p:nvSpPr>
        <p:spPr bwMode="auto"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pPr>
              <a:defRPr/>
            </a:pPr>
            <a:endParaRPr/>
          </a:p>
        </p:txBody>
      </p:sp>
      <p:sp>
        <p:nvSpPr>
          <p:cNvPr id="454222625" name="Google Shape;46;p7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66748952" name="Google Shape;47;p7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28848647" name="Google Shape;48;p7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Only" preserve="0" showMasterPhAnim="0" showMasterSp="1" type="titleOnly" userDrawn="1">
  <p:cSld name="TITLE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2503586" name="Google Shape;50;p8"/>
          <p:cNvSpPr txBox="1"/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32439810" name="Google Shape;51;p8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33349618" name="Google Shape;52;p8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1044559" name="Google Shape;53;p8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ontent with Caption" preserve="0" showMasterPhAnim="0" showMasterSp="1" type="objTx" userDrawn="1">
  <p:cSld name="OBJECT_WITH_CAPTIO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4181780" name="Google Shape;55;p9"/>
          <p:cNvSpPr txBox="1"/>
          <p:nvPr>
            <p:ph type="title"/>
          </p:nvPr>
        </p:nvSpPr>
        <p:spPr bwMode="auto"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51142419" name="Google Shape;56;p9"/>
          <p:cNvSpPr txBox="1"/>
          <p:nvPr>
            <p:ph type="body" idx="1"/>
          </p:nvPr>
        </p:nvSpPr>
        <p:spPr bwMode="auto"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799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208479531" name="Google Shape;57;p9"/>
          <p:cNvSpPr txBox="1"/>
          <p:nvPr>
            <p:ph type="body" idx="2"/>
          </p:nvPr>
        </p:nvSpPr>
        <p:spPr bwMode="auto"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pPr>
              <a:defRPr/>
            </a:pPr>
            <a:endParaRPr/>
          </a:p>
        </p:txBody>
      </p:sp>
      <p:sp>
        <p:nvSpPr>
          <p:cNvPr id="810429467" name="Google Shape;58;p9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6933241" name="Google Shape;59;p9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27278991" name="Google Shape;60;p9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Picture with Caption" preserve="0" showMasterPhAnim="0" showMasterSp="1" type="picTx" userDrawn="1">
  <p:cSld name="PICTURE_WITH_CAPTIO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5580589" name="Google Shape;62;p10"/>
          <p:cNvSpPr txBox="1"/>
          <p:nvPr>
            <p:ph type="title"/>
          </p:nvPr>
        </p:nvSpPr>
        <p:spPr bwMode="auto"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79131935" name="Google Shape;63;p10"/>
          <p:cNvSpPr/>
          <p:nvPr>
            <p:ph type="pic" idx="2"/>
          </p:nvPr>
        </p:nvSpPr>
        <p:spPr bwMode="auto"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570050953" name="Google Shape;64;p10"/>
          <p:cNvSpPr txBox="1"/>
          <p:nvPr>
            <p:ph type="body" idx="1"/>
          </p:nvPr>
        </p:nvSpPr>
        <p:spPr bwMode="auto"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pPr>
              <a:defRPr/>
            </a:pPr>
            <a:endParaRPr/>
          </a:p>
        </p:txBody>
      </p:sp>
      <p:sp>
        <p:nvSpPr>
          <p:cNvPr id="1354393525" name="Google Shape;65;p10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5025305" name="Google Shape;66;p10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16844720" name="Google Shape;67;p10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Vertical Text" preserve="0" showMasterPhAnim="0" showMasterSp="1" type="vertTx" userDrawn="1">
  <p:cSld name="VERTICAL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2613251" name="Google Shape;69;p11"/>
          <p:cNvSpPr txBox="1"/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63092800" name="Google Shape;70;p11"/>
          <p:cNvSpPr txBox="1"/>
          <p:nvPr>
            <p:ph type="body" idx="1"/>
          </p:nvPr>
        </p:nvSpPr>
        <p:spPr bwMode="auto"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19024920" name="Google Shape;71;p11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131534133" name="Google Shape;72;p11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02291229" name="Google Shape;73;p11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Vertical Title and Text" preserve="0" showMasterPhAnim="0" showMasterSp="1" type="vertTitleAndTx" userDrawn="1">
  <p:cSld name="VERTICAL_TITLE_AND_VERTICAL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0617488" name="Google Shape;75;p12"/>
          <p:cNvSpPr txBox="1"/>
          <p:nvPr>
            <p:ph type="title"/>
          </p:nvPr>
        </p:nvSpPr>
        <p:spPr bwMode="auto"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01810768" name="Google Shape;76;p12"/>
          <p:cNvSpPr txBox="1"/>
          <p:nvPr>
            <p:ph type="body" idx="1"/>
          </p:nvPr>
        </p:nvSpPr>
        <p:spPr bwMode="auto"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98659335" name="Google Shape;77;p12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02466754" name="Google Shape;78;p12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41604623" name="Google Shape;79;p12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4151925" name="Google Shape;6;p1"/>
          <p:cNvSpPr txBox="1"/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433464961" name="Google Shape;7;p1"/>
          <p:cNvSpPr txBox="1"/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799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2054691942" name="Google Shape;8;p1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544280184" name="Google Shape;9;p1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777791393" name="Google Shape;10;p1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Relationship Id="rId11" Type="http://schemas.openxmlformats.org/officeDocument/2006/relationships/image" Target="../media/image15.png"/><Relationship Id="rId12" Type="http://schemas.openxmlformats.org/officeDocument/2006/relationships/image" Target="../media/image6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Relationship Id="rId9" Type="http://schemas.openxmlformats.org/officeDocument/2006/relationships/image" Target="../media/image31.png"/><Relationship Id="rId10" Type="http://schemas.openxmlformats.org/officeDocument/2006/relationships/image" Target="../media/image32.png"/><Relationship Id="rId11" Type="http://schemas.openxmlformats.org/officeDocument/2006/relationships/image" Target="../media/image33.png"/><Relationship Id="rId12" Type="http://schemas.openxmlformats.org/officeDocument/2006/relationships/image" Target="../media/image34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6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Relationship Id="rId9" Type="http://schemas.openxmlformats.org/officeDocument/2006/relationships/image" Target="../media/image35.png"/><Relationship Id="rId10" Type="http://schemas.openxmlformats.org/officeDocument/2006/relationships/image" Target="../media/image36.png"/><Relationship Id="rId11" Type="http://schemas.openxmlformats.org/officeDocument/2006/relationships/image" Target="../media/image37.png"/><Relationship Id="rId12" Type="http://schemas.openxmlformats.org/officeDocument/2006/relationships/image" Target="../media/image38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9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64128113" name="Google Shape;84;p13" descr="image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4791030" y="1440357"/>
            <a:ext cx="2505074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2125521691" name="Google Shape;85;p13"/>
          <p:cNvSpPr txBox="1"/>
          <p:nvPr/>
        </p:nvSpPr>
        <p:spPr bwMode="auto">
          <a:xfrm>
            <a:off x="1918052" y="2030907"/>
            <a:ext cx="8251031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5400" b="1" i="0" u="none" strike="noStrike" cap="none">
                <a:solidFill>
                  <a:srgbClr val="0F172A"/>
                </a:solidFill>
                <a:latin typeface="Outfit"/>
                <a:ea typeface="Outfit"/>
                <a:cs typeface="Outfit"/>
              </a:rPr>
              <a:t>HYBRID MODEL </a:t>
            </a:r>
            <a:r>
              <a:rPr lang="en-US" sz="5400" b="1" i="0" u="none" strike="noStrike" cap="none">
                <a:solidFill>
                  <a:srgbClr val="64748B"/>
                </a:solidFill>
                <a:latin typeface="Outfit"/>
                <a:ea typeface="Outfit"/>
                <a:cs typeface="Outfit"/>
              </a:rPr>
              <a:t>ROUTER</a:t>
            </a:r>
            <a:endParaRPr/>
          </a:p>
        </p:txBody>
      </p:sp>
      <p:sp>
        <p:nvSpPr>
          <p:cNvPr id="1931687197" name="Google Shape;86;p13"/>
          <p:cNvSpPr txBox="1"/>
          <p:nvPr/>
        </p:nvSpPr>
        <p:spPr bwMode="auto">
          <a:xfrm>
            <a:off x="2800305" y="4607602"/>
            <a:ext cx="648652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</a:rPr>
              <a:t>Maximizing LLM Accuracy While Minimizing Cost &amp; Latency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1148826" name="Google Shape;91;p14" descr="image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571500" y="1588740"/>
            <a:ext cx="5334000" cy="4697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1946158" name="Google Shape;92;p14" descr="image.png"/>
          <p:cNvPicPr/>
          <p:nvPr/>
        </p:nvPicPr>
        <p:blipFill rotWithShape="1">
          <a:blip r:embed="rId4">
            <a:alphaModFix/>
          </a:blip>
          <a:srcRect l="0" t="0" r="0" b="0"/>
          <a:stretch/>
        </p:blipFill>
        <p:spPr bwMode="auto">
          <a:xfrm>
            <a:off x="6286500" y="1588740"/>
            <a:ext cx="5334000" cy="46977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0983582" name="Google Shape;93;p14"/>
          <p:cNvSpPr txBox="1"/>
          <p:nvPr/>
        </p:nvSpPr>
        <p:spPr bwMode="auto">
          <a:xfrm>
            <a:off x="962025" y="1979265"/>
            <a:ext cx="4780597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100" b="0" i="0" u="none" strike="noStrike" cap="none">
                <a:solidFill>
                  <a:srgbClr val="0F172A"/>
                </a:solidFill>
                <a:latin typeface="Outfit SemiBold"/>
                <a:ea typeface="Outfit SemiBold"/>
                <a:cs typeface="Outfit SemiBold"/>
              </a:rPr>
              <a:t>Local Tier </a:t>
            </a:r>
            <a:r>
              <a:rPr lang="en-US" sz="2100" b="0" i="0" u="none" strike="noStrike" cap="none">
                <a:solidFill>
                  <a:srgbClr val="64748B"/>
                </a:solidFill>
                <a:latin typeface="Outfit"/>
                <a:ea typeface="Outfit"/>
                <a:cs typeface="Outfit"/>
              </a:rPr>
              <a:t>(e.g., Qwen 0.5B)</a:t>
            </a:r>
            <a:endParaRPr/>
          </a:p>
        </p:txBody>
      </p:sp>
      <p:sp>
        <p:nvSpPr>
          <p:cNvPr id="890152116" name="Google Shape;94;p14"/>
          <p:cNvSpPr txBox="1"/>
          <p:nvPr/>
        </p:nvSpPr>
        <p:spPr bwMode="auto">
          <a:xfrm>
            <a:off x="6677025" y="1979265"/>
            <a:ext cx="4780597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100" b="0" i="0" u="none" strike="noStrike" cap="none">
                <a:solidFill>
                  <a:srgbClr val="0F172A"/>
                </a:solidFill>
                <a:latin typeface="Outfit SemiBold"/>
                <a:ea typeface="Outfit SemiBold"/>
                <a:cs typeface="Outfit SemiBold"/>
              </a:rPr>
              <a:t>Remote Tier </a:t>
            </a:r>
            <a:r>
              <a:rPr lang="en-US" sz="2100" b="0" i="0" u="none" strike="noStrike" cap="none">
                <a:solidFill>
                  <a:srgbClr val="64748B"/>
                </a:solidFill>
                <a:latin typeface="Outfit"/>
                <a:ea typeface="Outfit"/>
                <a:cs typeface="Outfit"/>
              </a:rPr>
              <a:t>(e.g., Llama 70B)</a:t>
            </a:r>
            <a:endParaRPr/>
          </a:p>
        </p:txBody>
      </p:sp>
      <p:sp>
        <p:nvSpPr>
          <p:cNvPr id="1393915815" name="Google Shape;95;p14"/>
          <p:cNvSpPr txBox="1"/>
          <p:nvPr/>
        </p:nvSpPr>
        <p:spPr bwMode="auto">
          <a:xfrm>
            <a:off x="1266825" y="2642145"/>
            <a:ext cx="42481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100% Free &amp; Fast (Ollama)</a:t>
            </a:r>
            <a:endParaRPr/>
          </a:p>
        </p:txBody>
      </p:sp>
      <p:sp>
        <p:nvSpPr>
          <p:cNvPr id="2136498525" name="Google Shape;96;p14"/>
          <p:cNvSpPr txBox="1"/>
          <p:nvPr/>
        </p:nvSpPr>
        <p:spPr bwMode="auto">
          <a:xfrm>
            <a:off x="1266825" y="3099345"/>
            <a:ext cx="42481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Running locally on device</a:t>
            </a:r>
            <a:endParaRPr/>
          </a:p>
        </p:txBody>
      </p:sp>
      <p:sp>
        <p:nvSpPr>
          <p:cNvPr id="1590338127" name="Google Shape;97;p14"/>
          <p:cNvSpPr txBox="1"/>
          <p:nvPr/>
        </p:nvSpPr>
        <p:spPr bwMode="auto">
          <a:xfrm>
            <a:off x="1266825" y="3556545"/>
            <a:ext cx="42481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Poor self-calibration</a:t>
            </a:r>
            <a:endParaRPr/>
          </a:p>
        </p:txBody>
      </p:sp>
      <p:sp>
        <p:nvSpPr>
          <p:cNvPr id="711008963" name="Google Shape;98;p14"/>
          <p:cNvSpPr txBox="1"/>
          <p:nvPr/>
        </p:nvSpPr>
        <p:spPr bwMode="auto">
          <a:xfrm>
            <a:off x="1266825" y="4013745"/>
            <a:ext cx="42481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Hallucinations on hard tasks</a:t>
            </a:r>
            <a:endParaRPr/>
          </a:p>
        </p:txBody>
      </p:sp>
      <p:sp>
        <p:nvSpPr>
          <p:cNvPr id="1091371740" name="Google Shape;99;p14"/>
          <p:cNvSpPr txBox="1"/>
          <p:nvPr/>
        </p:nvSpPr>
        <p:spPr bwMode="auto">
          <a:xfrm>
            <a:off x="1266825" y="4470945"/>
            <a:ext cx="42481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Fails complex structures</a:t>
            </a:r>
            <a:endParaRPr/>
          </a:p>
        </p:txBody>
      </p:sp>
      <p:sp>
        <p:nvSpPr>
          <p:cNvPr id="1622619697" name="Google Shape;100;p14"/>
          <p:cNvSpPr txBox="1"/>
          <p:nvPr/>
        </p:nvSpPr>
        <p:spPr bwMode="auto">
          <a:xfrm>
            <a:off x="6981825" y="2642145"/>
            <a:ext cx="42481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Exceptional Accuracy</a:t>
            </a:r>
            <a:endParaRPr/>
          </a:p>
        </p:txBody>
      </p:sp>
      <p:sp>
        <p:nvSpPr>
          <p:cNvPr id="528653182" name="Google Shape;101;p14"/>
          <p:cNvSpPr txBox="1"/>
          <p:nvPr/>
        </p:nvSpPr>
        <p:spPr bwMode="auto">
          <a:xfrm>
            <a:off x="6981825" y="3099345"/>
            <a:ext cx="42481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Handles coding &amp; math</a:t>
            </a:r>
            <a:endParaRPr/>
          </a:p>
        </p:txBody>
      </p:sp>
      <p:sp>
        <p:nvSpPr>
          <p:cNvPr id="853549108" name="Google Shape;102;p14"/>
          <p:cNvSpPr txBox="1"/>
          <p:nvPr/>
        </p:nvSpPr>
        <p:spPr bwMode="auto">
          <a:xfrm>
            <a:off x="6981825" y="3556545"/>
            <a:ext cx="42481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High API token cost</a:t>
            </a:r>
            <a:endParaRPr/>
          </a:p>
        </p:txBody>
      </p:sp>
      <p:sp>
        <p:nvSpPr>
          <p:cNvPr id="1581046348" name="Google Shape;103;p14"/>
          <p:cNvSpPr txBox="1"/>
          <p:nvPr/>
        </p:nvSpPr>
        <p:spPr bwMode="auto">
          <a:xfrm>
            <a:off x="6981825" y="4013745"/>
            <a:ext cx="42481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Depletes hackathon budget</a:t>
            </a:r>
            <a:endParaRPr/>
          </a:p>
        </p:txBody>
      </p:sp>
      <p:sp>
        <p:nvSpPr>
          <p:cNvPr id="726669019" name="Google Shape;104;p14"/>
          <p:cNvSpPr txBox="1"/>
          <p:nvPr/>
        </p:nvSpPr>
        <p:spPr bwMode="auto">
          <a:xfrm>
            <a:off x="6981825" y="4470945"/>
            <a:ext cx="42481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Subject to network latency</a:t>
            </a:r>
            <a:endParaRPr/>
          </a:p>
        </p:txBody>
      </p:sp>
      <p:sp>
        <p:nvSpPr>
          <p:cNvPr id="121203068" name="Google Shape;105;p14"/>
          <p:cNvSpPr txBox="1"/>
          <p:nvPr/>
        </p:nvSpPr>
        <p:spPr bwMode="auto">
          <a:xfrm>
            <a:off x="571500" y="571500"/>
            <a:ext cx="11601450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3300" b="0" i="0" u="none" strike="noStrike" cap="none">
                <a:solidFill>
                  <a:srgbClr val="0F172A"/>
                </a:solidFill>
                <a:latin typeface="Outfit SemiBold"/>
                <a:ea typeface="Outfit SemiBold"/>
                <a:cs typeface="Outfit SemiBold"/>
              </a:rPr>
              <a:t>The LLM Scaling Problem</a:t>
            </a:r>
            <a:endParaRPr/>
          </a:p>
        </p:txBody>
      </p:sp>
      <p:sp>
        <p:nvSpPr>
          <p:cNvPr id="644920429" name="Google Shape;106;p14"/>
          <p:cNvSpPr/>
          <p:nvPr/>
        </p:nvSpPr>
        <p:spPr bwMode="auto">
          <a:xfrm>
            <a:off x="571500" y="118869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278757595" name="Google Shape;107;p14" descr="image.png"/>
          <p:cNvPicPr/>
          <p:nvPr/>
        </p:nvPicPr>
        <p:blipFill rotWithShape="1">
          <a:blip r:embed="rId5">
            <a:alphaModFix/>
          </a:blip>
          <a:srcRect l="0" t="0" r="0" b="0"/>
          <a:stretch/>
        </p:blipFill>
        <p:spPr bwMode="auto">
          <a:xfrm>
            <a:off x="962025" y="266119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383512" name="Google Shape;108;p14" descr="image.png"/>
          <p:cNvPicPr/>
          <p:nvPr/>
        </p:nvPicPr>
        <p:blipFill rotWithShape="1">
          <a:blip r:embed="rId5">
            <a:alphaModFix/>
          </a:blip>
          <a:srcRect l="0" t="0" r="0" b="0"/>
          <a:stretch/>
        </p:blipFill>
        <p:spPr bwMode="auto">
          <a:xfrm>
            <a:off x="962025" y="311839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597595" name="Google Shape;109;p14" descr="image.png"/>
          <p:cNvPicPr/>
          <p:nvPr/>
        </p:nvPicPr>
        <p:blipFill rotWithShape="1">
          <a:blip r:embed="rId6">
            <a:alphaModFix/>
          </a:blip>
          <a:srcRect l="0" t="0" r="0" b="0"/>
          <a:stretch/>
        </p:blipFill>
        <p:spPr bwMode="auto">
          <a:xfrm>
            <a:off x="962025" y="3575595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198587" name="Google Shape;110;p14" descr="image.png"/>
          <p:cNvPicPr/>
          <p:nvPr/>
        </p:nvPicPr>
        <p:blipFill rotWithShape="1">
          <a:blip r:embed="rId6">
            <a:alphaModFix/>
          </a:blip>
          <a:srcRect l="0" t="0" r="0" b="0"/>
          <a:stretch/>
        </p:blipFill>
        <p:spPr bwMode="auto">
          <a:xfrm>
            <a:off x="962025" y="4032795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5341197" name="Google Shape;111;p14" descr="image.png"/>
          <p:cNvPicPr/>
          <p:nvPr/>
        </p:nvPicPr>
        <p:blipFill rotWithShape="1">
          <a:blip r:embed="rId6">
            <a:alphaModFix/>
          </a:blip>
          <a:srcRect l="0" t="0" r="0" b="0"/>
          <a:stretch/>
        </p:blipFill>
        <p:spPr bwMode="auto">
          <a:xfrm>
            <a:off x="962025" y="4489995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4613724" name="Google Shape;112;p14" descr="image.png"/>
          <p:cNvPicPr/>
          <p:nvPr/>
        </p:nvPicPr>
        <p:blipFill rotWithShape="1">
          <a:blip r:embed="rId5">
            <a:alphaModFix/>
          </a:blip>
          <a:srcRect l="0" t="0" r="0" b="0"/>
          <a:stretch/>
        </p:blipFill>
        <p:spPr bwMode="auto">
          <a:xfrm>
            <a:off x="6677025" y="266119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2731439" name="Google Shape;113;p14" descr="image.png"/>
          <p:cNvPicPr/>
          <p:nvPr/>
        </p:nvPicPr>
        <p:blipFill rotWithShape="1">
          <a:blip r:embed="rId5">
            <a:alphaModFix/>
          </a:blip>
          <a:srcRect l="0" t="0" r="0" b="0"/>
          <a:stretch/>
        </p:blipFill>
        <p:spPr bwMode="auto">
          <a:xfrm>
            <a:off x="6677025" y="311839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6330554" name="Google Shape;114;p14" descr="image.png"/>
          <p:cNvPicPr/>
          <p:nvPr/>
        </p:nvPicPr>
        <p:blipFill rotWithShape="1">
          <a:blip r:embed="rId6">
            <a:alphaModFix/>
          </a:blip>
          <a:srcRect l="0" t="0" r="0" b="0"/>
          <a:stretch/>
        </p:blipFill>
        <p:spPr bwMode="auto">
          <a:xfrm>
            <a:off x="6677025" y="3575595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7578661" name="Google Shape;115;p14" descr="image.png"/>
          <p:cNvPicPr/>
          <p:nvPr/>
        </p:nvPicPr>
        <p:blipFill rotWithShape="1">
          <a:blip r:embed="rId6">
            <a:alphaModFix/>
          </a:blip>
          <a:srcRect l="0" t="0" r="0" b="0"/>
          <a:stretch/>
        </p:blipFill>
        <p:spPr bwMode="auto">
          <a:xfrm>
            <a:off x="6677025" y="4032795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970175" name="Google Shape;116;p14" descr="image.png"/>
          <p:cNvPicPr/>
          <p:nvPr/>
        </p:nvPicPr>
        <p:blipFill rotWithShape="1">
          <a:blip r:embed="rId6">
            <a:alphaModFix/>
          </a:blip>
          <a:srcRect l="0" t="0" r="0" b="0"/>
          <a:stretch/>
        </p:blipFill>
        <p:spPr bwMode="auto">
          <a:xfrm>
            <a:off x="6677025" y="4489995"/>
            <a:ext cx="14287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5259573" name="Google Shape;121;p15"/>
          <p:cNvSpPr txBox="1"/>
          <p:nvPr/>
        </p:nvSpPr>
        <p:spPr bwMode="auto">
          <a:xfrm>
            <a:off x="1400175" y="2165002"/>
            <a:ext cx="93916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>
                <a:solidFill>
                  <a:srgbClr val="64748B"/>
                </a:solidFill>
                <a:latin typeface="Inter SemiBold"/>
                <a:ea typeface="Inter SemiBold"/>
                <a:cs typeface="Inter SemiBold"/>
              </a:rPr>
              <a:t>CRITICAL FAILURE MODE</a:t>
            </a:r>
            <a:endParaRPr/>
          </a:p>
        </p:txBody>
      </p:sp>
      <p:sp>
        <p:nvSpPr>
          <p:cNvPr id="2134230861" name="Google Shape;122;p15"/>
          <p:cNvSpPr txBox="1"/>
          <p:nvPr/>
        </p:nvSpPr>
        <p:spPr bwMode="auto">
          <a:xfrm>
            <a:off x="1781175" y="2726977"/>
            <a:ext cx="8629650" cy="168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68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3150" b="0" i="0" u="none" strike="noStrike" cap="none">
                <a:solidFill>
                  <a:srgbClr val="0F172A"/>
                </a:solidFill>
                <a:latin typeface="Outfit SemiBold"/>
                <a:ea typeface="Outfit SemiBold"/>
                <a:cs typeface="Outfit SemiBold"/>
              </a:rPr>
              <a:t>Stated LLM confidence is NOT calibrated. We cannot trust a local model's self-reported confidence to decide when to escalate.</a:t>
            </a:r>
            <a:endParaRPr/>
          </a:p>
        </p:txBody>
      </p:sp>
      <p:sp>
        <p:nvSpPr>
          <p:cNvPr id="2076320074" name="Google Shape;123;p15"/>
          <p:cNvSpPr txBox="1"/>
          <p:nvPr/>
        </p:nvSpPr>
        <p:spPr bwMode="auto">
          <a:xfrm>
            <a:off x="1209675" y="3107977"/>
            <a:ext cx="600075" cy="1381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9000" b="0" i="0" u="none" strike="noStrike" cap="none">
                <a:solidFill>
                  <a:srgbClr val="E2E8F0"/>
                </a:solidFill>
                <a:latin typeface="Inter SemiBold"/>
                <a:ea typeface="Inter SemiBold"/>
                <a:cs typeface="Inter SemiBold"/>
              </a:rPr>
              <a:t>"</a:t>
            </a:r>
            <a:endParaRPr/>
          </a:p>
        </p:txBody>
      </p:sp>
      <p:sp>
        <p:nvSpPr>
          <p:cNvPr id="209007592" name="Google Shape;124;p15"/>
          <p:cNvSpPr txBox="1"/>
          <p:nvPr/>
        </p:nvSpPr>
        <p:spPr bwMode="auto">
          <a:xfrm>
            <a:off x="10382250" y="4502352"/>
            <a:ext cx="600075" cy="1381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9000" b="0" i="0" u="none" strike="noStrike" cap="none">
                <a:solidFill>
                  <a:srgbClr val="E2E8F0"/>
                </a:solidFill>
                <a:latin typeface="Inter SemiBold"/>
                <a:ea typeface="Inter SemiBold"/>
                <a:cs typeface="Inter SemiBold"/>
              </a:rPr>
              <a:t>"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9251065" name="Google Shape;129;p16" descr="image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571500" y="1588740"/>
            <a:ext cx="5334000" cy="4697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183725" name="Google Shape;130;p16" descr="image.png"/>
          <p:cNvPicPr/>
          <p:nvPr/>
        </p:nvPicPr>
        <p:blipFill rotWithShape="1">
          <a:blip r:embed="rId4">
            <a:alphaModFix/>
          </a:blip>
          <a:srcRect l="0" t="0" r="0" b="0"/>
          <a:stretch/>
        </p:blipFill>
        <p:spPr bwMode="auto">
          <a:xfrm>
            <a:off x="6286500" y="1588740"/>
            <a:ext cx="5334000" cy="4697759"/>
          </a:xfrm>
          <a:prstGeom prst="rect">
            <a:avLst/>
          </a:prstGeom>
          <a:noFill/>
          <a:ln>
            <a:noFill/>
          </a:ln>
        </p:spPr>
      </p:pic>
      <p:sp>
        <p:nvSpPr>
          <p:cNvPr id="140267410" name="Google Shape;131;p16"/>
          <p:cNvSpPr txBox="1"/>
          <p:nvPr/>
        </p:nvSpPr>
        <p:spPr bwMode="auto">
          <a:xfrm>
            <a:off x="962025" y="1979265"/>
            <a:ext cx="4780597" cy="20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0" i="0" u="none" strike="noStrike" cap="none">
                <a:solidFill>
                  <a:srgbClr val="64748B"/>
                </a:solidFill>
                <a:latin typeface="Outfit SemiBold"/>
                <a:ea typeface="Outfit SemiBold"/>
                <a:cs typeface="Outfit SemiBold"/>
              </a:rPr>
              <a:t>CONVENTIONAL</a:t>
            </a:r>
            <a:endParaRPr/>
          </a:p>
        </p:txBody>
      </p:sp>
      <p:sp>
        <p:nvSpPr>
          <p:cNvPr id="2028540993" name="Google Shape;132;p16"/>
          <p:cNvSpPr txBox="1"/>
          <p:nvPr/>
        </p:nvSpPr>
        <p:spPr bwMode="auto">
          <a:xfrm>
            <a:off x="962025" y="2299245"/>
            <a:ext cx="4780597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100" b="0" i="0" u="none" strike="noStrike" cap="none">
                <a:solidFill>
                  <a:srgbClr val="0F172A"/>
                </a:solidFill>
                <a:latin typeface="Outfit SemiBold"/>
                <a:ea typeface="Outfit SemiBold"/>
                <a:cs typeface="Outfit SemiBold"/>
              </a:rPr>
              <a:t>Static Routing</a:t>
            </a:r>
            <a:endParaRPr/>
          </a:p>
        </p:txBody>
      </p:sp>
      <p:sp>
        <p:nvSpPr>
          <p:cNvPr id="1210810213" name="Google Shape;133;p16"/>
          <p:cNvSpPr txBox="1"/>
          <p:nvPr/>
        </p:nvSpPr>
        <p:spPr bwMode="auto">
          <a:xfrm>
            <a:off x="6677025" y="1979265"/>
            <a:ext cx="4780597" cy="20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0" i="0" u="none" strike="noStrike" cap="none">
                <a:solidFill>
                  <a:srgbClr val="64748B"/>
                </a:solidFill>
                <a:latin typeface="Outfit SemiBold"/>
                <a:ea typeface="Outfit SemiBold"/>
                <a:cs typeface="Outfit SemiBold"/>
              </a:rPr>
              <a:t>PROPOSED SOLUTION</a:t>
            </a:r>
            <a:endParaRPr/>
          </a:p>
        </p:txBody>
      </p:sp>
      <p:sp>
        <p:nvSpPr>
          <p:cNvPr id="285553918" name="Google Shape;134;p16"/>
          <p:cNvSpPr txBox="1"/>
          <p:nvPr/>
        </p:nvSpPr>
        <p:spPr bwMode="auto">
          <a:xfrm>
            <a:off x="6677025" y="2299245"/>
            <a:ext cx="4780597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100" b="0" i="0" u="none" strike="noStrike" cap="none">
                <a:solidFill>
                  <a:srgbClr val="0F172A"/>
                </a:solidFill>
                <a:latin typeface="Outfit SemiBold"/>
                <a:ea typeface="Outfit SemiBold"/>
                <a:cs typeface="Outfit SemiBold"/>
              </a:rPr>
              <a:t>Hybrid Model Router</a:t>
            </a:r>
            <a:endParaRPr/>
          </a:p>
        </p:txBody>
      </p:sp>
      <p:sp>
        <p:nvSpPr>
          <p:cNvPr id="1836746547" name="Google Shape;135;p16"/>
          <p:cNvSpPr txBox="1"/>
          <p:nvPr/>
        </p:nvSpPr>
        <p:spPr bwMode="auto">
          <a:xfrm>
            <a:off x="1266825" y="2962126"/>
            <a:ext cx="42481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All prompts go to Remote → High cost, wasted budget</a:t>
            </a:r>
            <a:endParaRPr/>
          </a:p>
        </p:txBody>
      </p:sp>
      <p:sp>
        <p:nvSpPr>
          <p:cNvPr id="743087217" name="Google Shape;136;p16"/>
          <p:cNvSpPr txBox="1"/>
          <p:nvPr/>
        </p:nvSpPr>
        <p:spPr bwMode="auto">
          <a:xfrm>
            <a:off x="1266825" y="3724126"/>
            <a:ext cx="42481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Or all prompts go to Local → Low accuracy, fails tests</a:t>
            </a:r>
            <a:endParaRPr/>
          </a:p>
        </p:txBody>
      </p:sp>
      <p:sp>
        <p:nvSpPr>
          <p:cNvPr id="1629104152" name="Google Shape;137;p16"/>
          <p:cNvSpPr txBox="1"/>
          <p:nvPr/>
        </p:nvSpPr>
        <p:spPr bwMode="auto">
          <a:xfrm>
            <a:off x="1266825" y="4486126"/>
            <a:ext cx="42481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No validation of outputs</a:t>
            </a:r>
            <a:endParaRPr/>
          </a:p>
        </p:txBody>
      </p:sp>
      <p:sp>
        <p:nvSpPr>
          <p:cNvPr id="1145634895" name="Google Shape;138;p16"/>
          <p:cNvSpPr txBox="1"/>
          <p:nvPr/>
        </p:nvSpPr>
        <p:spPr bwMode="auto">
          <a:xfrm>
            <a:off x="1266825" y="4943326"/>
            <a:ext cx="42481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Rigid configuration</a:t>
            </a:r>
            <a:endParaRPr/>
          </a:p>
        </p:txBody>
      </p:sp>
      <p:sp>
        <p:nvSpPr>
          <p:cNvPr id="1392348128" name="Google Shape;139;p16"/>
          <p:cNvSpPr txBox="1"/>
          <p:nvPr/>
        </p:nvSpPr>
        <p:spPr bwMode="auto">
          <a:xfrm>
            <a:off x="6981825" y="2962126"/>
            <a:ext cx="42481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Semantic Cache for 0-token hits</a:t>
            </a:r>
            <a:endParaRPr/>
          </a:p>
        </p:txBody>
      </p:sp>
      <p:sp>
        <p:nvSpPr>
          <p:cNvPr id="787366330" name="Google Shape;140;p16"/>
          <p:cNvSpPr txBox="1"/>
          <p:nvPr/>
        </p:nvSpPr>
        <p:spPr bwMode="auto">
          <a:xfrm>
            <a:off x="6981825" y="3419326"/>
            <a:ext cx="42481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Predictive Gate to bypass local</a:t>
            </a:r>
            <a:endParaRPr/>
          </a:p>
        </p:txBody>
      </p:sp>
      <p:sp>
        <p:nvSpPr>
          <p:cNvPr id="1543809670" name="Google Shape;141;p16"/>
          <p:cNvSpPr txBox="1"/>
          <p:nvPr/>
        </p:nvSpPr>
        <p:spPr bwMode="auto">
          <a:xfrm>
            <a:off x="6981825" y="3876526"/>
            <a:ext cx="42481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Cascade Execution (Local first)</a:t>
            </a:r>
            <a:endParaRPr/>
          </a:p>
        </p:txBody>
      </p:sp>
      <p:sp>
        <p:nvSpPr>
          <p:cNvPr id="1305348921" name="Google Shape;142;p16"/>
          <p:cNvSpPr txBox="1"/>
          <p:nvPr/>
        </p:nvSpPr>
        <p:spPr bwMode="auto">
          <a:xfrm>
            <a:off x="6981825" y="4333726"/>
            <a:ext cx="42481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Multi-Signal Trust Evaluator</a:t>
            </a:r>
            <a:endParaRPr/>
          </a:p>
        </p:txBody>
      </p:sp>
      <p:sp>
        <p:nvSpPr>
          <p:cNvPr id="793616545" name="Google Shape;143;p16"/>
          <p:cNvSpPr txBox="1"/>
          <p:nvPr/>
        </p:nvSpPr>
        <p:spPr bwMode="auto">
          <a:xfrm>
            <a:off x="6981825" y="4790926"/>
            <a:ext cx="42481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Dynamic Budget Adjuster</a:t>
            </a:r>
            <a:endParaRPr/>
          </a:p>
        </p:txBody>
      </p:sp>
      <p:sp>
        <p:nvSpPr>
          <p:cNvPr id="1212208431" name="Google Shape;144;p16"/>
          <p:cNvSpPr txBox="1"/>
          <p:nvPr/>
        </p:nvSpPr>
        <p:spPr bwMode="auto">
          <a:xfrm>
            <a:off x="6981825" y="5248126"/>
            <a:ext cx="42481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Automatic fallback handling</a:t>
            </a:r>
            <a:endParaRPr/>
          </a:p>
        </p:txBody>
      </p:sp>
      <p:sp>
        <p:nvSpPr>
          <p:cNvPr id="1264151312" name="Google Shape;145;p16"/>
          <p:cNvSpPr txBox="1"/>
          <p:nvPr/>
        </p:nvSpPr>
        <p:spPr bwMode="auto">
          <a:xfrm>
            <a:off x="571500" y="571500"/>
            <a:ext cx="11601450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3300" b="0" i="0" u="none" strike="noStrike" cap="none">
                <a:solidFill>
                  <a:srgbClr val="0F172A"/>
                </a:solidFill>
                <a:latin typeface="Outfit SemiBold"/>
                <a:ea typeface="Outfit SemiBold"/>
                <a:cs typeface="Outfit SemiBold"/>
              </a:rPr>
              <a:t>Static Routing vs. HMR</a:t>
            </a:r>
            <a:endParaRPr/>
          </a:p>
        </p:txBody>
      </p:sp>
      <p:sp>
        <p:nvSpPr>
          <p:cNvPr id="1359683238" name="Google Shape;146;p16"/>
          <p:cNvSpPr/>
          <p:nvPr/>
        </p:nvSpPr>
        <p:spPr bwMode="auto">
          <a:xfrm>
            <a:off x="571500" y="118869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549539070" name="Google Shape;147;p16" descr="image.png"/>
          <p:cNvPicPr/>
          <p:nvPr/>
        </p:nvPicPr>
        <p:blipFill rotWithShape="1">
          <a:blip r:embed="rId5">
            <a:alphaModFix/>
          </a:blip>
          <a:srcRect l="0" t="0" r="0" b="0"/>
          <a:stretch/>
        </p:blipFill>
        <p:spPr bwMode="auto">
          <a:xfrm>
            <a:off x="962025" y="2971651"/>
            <a:ext cx="104775" cy="219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10398913" name="Google Shape;148;p16" descr="image.png"/>
          <p:cNvPicPr/>
          <p:nvPr/>
        </p:nvPicPr>
        <p:blipFill rotWithShape="1">
          <a:blip r:embed="rId5">
            <a:alphaModFix/>
          </a:blip>
          <a:srcRect l="0" t="0" r="0" b="0"/>
          <a:stretch/>
        </p:blipFill>
        <p:spPr bwMode="auto">
          <a:xfrm>
            <a:off x="962025" y="3733651"/>
            <a:ext cx="104775" cy="219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4462434" name="Google Shape;149;p16" descr="image.png"/>
          <p:cNvPicPr/>
          <p:nvPr/>
        </p:nvPicPr>
        <p:blipFill rotWithShape="1">
          <a:blip r:embed="rId5">
            <a:alphaModFix/>
          </a:blip>
          <a:srcRect l="0" t="0" r="0" b="0"/>
          <a:stretch/>
        </p:blipFill>
        <p:spPr bwMode="auto">
          <a:xfrm>
            <a:off x="962025" y="4495651"/>
            <a:ext cx="104775" cy="219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908469" name="Google Shape;150;p16" descr="image.png"/>
          <p:cNvPicPr/>
          <p:nvPr/>
        </p:nvPicPr>
        <p:blipFill rotWithShape="1">
          <a:blip r:embed="rId5">
            <a:alphaModFix/>
          </a:blip>
          <a:srcRect l="0" t="0" r="0" b="0"/>
          <a:stretch/>
        </p:blipFill>
        <p:spPr bwMode="auto">
          <a:xfrm>
            <a:off x="962025" y="4952851"/>
            <a:ext cx="104775" cy="219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767163" name="Google Shape;151;p16" descr="image.png"/>
          <p:cNvPicPr/>
          <p:nvPr/>
        </p:nvPicPr>
        <p:blipFill rotWithShape="1">
          <a:blip r:embed="rId5">
            <a:alphaModFix/>
          </a:blip>
          <a:srcRect l="0" t="0" r="0" b="0"/>
          <a:stretch/>
        </p:blipFill>
        <p:spPr bwMode="auto">
          <a:xfrm>
            <a:off x="6677025" y="2971651"/>
            <a:ext cx="104775" cy="219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891605" name="Google Shape;152;p16" descr="image.png"/>
          <p:cNvPicPr/>
          <p:nvPr/>
        </p:nvPicPr>
        <p:blipFill rotWithShape="1">
          <a:blip r:embed="rId5">
            <a:alphaModFix/>
          </a:blip>
          <a:srcRect l="0" t="0" r="0" b="0"/>
          <a:stretch/>
        </p:blipFill>
        <p:spPr bwMode="auto">
          <a:xfrm>
            <a:off x="6677025" y="3428851"/>
            <a:ext cx="104775" cy="219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6612585" name="Google Shape;153;p16" descr="image.png"/>
          <p:cNvPicPr/>
          <p:nvPr/>
        </p:nvPicPr>
        <p:blipFill rotWithShape="1">
          <a:blip r:embed="rId5">
            <a:alphaModFix/>
          </a:blip>
          <a:srcRect l="0" t="0" r="0" b="0"/>
          <a:stretch/>
        </p:blipFill>
        <p:spPr bwMode="auto">
          <a:xfrm>
            <a:off x="6677025" y="3886051"/>
            <a:ext cx="104775" cy="219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0855371" name="Google Shape;154;p16" descr="image.png"/>
          <p:cNvPicPr/>
          <p:nvPr/>
        </p:nvPicPr>
        <p:blipFill rotWithShape="1">
          <a:blip r:embed="rId5">
            <a:alphaModFix/>
          </a:blip>
          <a:srcRect l="0" t="0" r="0" b="0"/>
          <a:stretch/>
        </p:blipFill>
        <p:spPr bwMode="auto">
          <a:xfrm>
            <a:off x="6677025" y="4343251"/>
            <a:ext cx="104775" cy="219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1264186" name="Google Shape;155;p16" descr="image.png"/>
          <p:cNvPicPr/>
          <p:nvPr/>
        </p:nvPicPr>
        <p:blipFill rotWithShape="1">
          <a:blip r:embed="rId5">
            <a:alphaModFix/>
          </a:blip>
          <a:srcRect l="0" t="0" r="0" b="0"/>
          <a:stretch/>
        </p:blipFill>
        <p:spPr bwMode="auto">
          <a:xfrm>
            <a:off x="6677025" y="4800451"/>
            <a:ext cx="104775" cy="219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1183820" name="Google Shape;156;p16" descr="image.png"/>
          <p:cNvPicPr/>
          <p:nvPr/>
        </p:nvPicPr>
        <p:blipFill rotWithShape="1">
          <a:blip r:embed="rId5">
            <a:alphaModFix/>
          </a:blip>
          <a:srcRect l="0" t="0" r="0" b="0"/>
          <a:stretch/>
        </p:blipFill>
        <p:spPr bwMode="auto">
          <a:xfrm>
            <a:off x="6677025" y="5257651"/>
            <a:ext cx="104775" cy="219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77134079" name="Google Shape;161;p17" descr="image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571500" y="1588740"/>
            <a:ext cx="3492549" cy="4697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552028" name="Google Shape;162;p17" descr="image.png"/>
          <p:cNvPicPr/>
          <p:nvPr/>
        </p:nvPicPr>
        <p:blipFill rotWithShape="1">
          <a:blip r:embed="rId4">
            <a:alphaModFix/>
          </a:blip>
          <a:srcRect l="0" t="0" r="0" b="0"/>
          <a:stretch/>
        </p:blipFill>
        <p:spPr bwMode="auto">
          <a:xfrm>
            <a:off x="4349799" y="1588740"/>
            <a:ext cx="3492549" cy="4697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068416" name="Google Shape;163;p17" descr="image.png"/>
          <p:cNvPicPr/>
          <p:nvPr/>
        </p:nvPicPr>
        <p:blipFill rotWithShape="1">
          <a:blip r:embed="rId5">
            <a:alphaModFix/>
          </a:blip>
          <a:srcRect l="0" t="0" r="0" b="0"/>
          <a:stretch/>
        </p:blipFill>
        <p:spPr bwMode="auto">
          <a:xfrm>
            <a:off x="8128099" y="1588740"/>
            <a:ext cx="3492549" cy="4697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6324917" name="Google Shape;164;p17" descr="image.png"/>
          <p:cNvPicPr/>
          <p:nvPr/>
        </p:nvPicPr>
        <p:blipFill rotWithShape="1">
          <a:blip r:embed="rId6">
            <a:alphaModFix/>
          </a:blip>
          <a:srcRect l="0" t="0" r="0" b="0"/>
          <a:stretch/>
        </p:blipFill>
        <p:spPr bwMode="auto">
          <a:xfrm>
            <a:off x="866775" y="1931640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382499263" name="Google Shape;165;p17"/>
          <p:cNvSpPr txBox="1"/>
          <p:nvPr/>
        </p:nvSpPr>
        <p:spPr bwMode="auto">
          <a:xfrm>
            <a:off x="866775" y="2826990"/>
            <a:ext cx="3047099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100" b="0" i="0" u="none" strike="noStrike" cap="none">
                <a:solidFill>
                  <a:srgbClr val="0F172A"/>
                </a:solidFill>
                <a:latin typeface="Outfit SemiBold"/>
                <a:ea typeface="Outfit SemiBold"/>
                <a:cs typeface="Outfit SemiBold"/>
              </a:rPr>
              <a:t>1. Optimizers</a:t>
            </a:r>
            <a:endParaRPr/>
          </a:p>
        </p:txBody>
      </p:sp>
      <p:sp>
        <p:nvSpPr>
          <p:cNvPr id="172889305" name="Google Shape;166;p17"/>
          <p:cNvSpPr txBox="1"/>
          <p:nvPr/>
        </p:nvSpPr>
        <p:spPr bwMode="auto">
          <a:xfrm>
            <a:off x="866775" y="3299370"/>
            <a:ext cx="290199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Enhance speed and bypass redundant computations.</a:t>
            </a:r>
            <a:endParaRPr/>
          </a:p>
        </p:txBody>
      </p:sp>
      <p:pic>
        <p:nvPicPr>
          <p:cNvPr id="1062974436" name="Google Shape;167;p17" descr="image.png"/>
          <p:cNvPicPr/>
          <p:nvPr/>
        </p:nvPicPr>
        <p:blipFill rotWithShape="1">
          <a:blip r:embed="rId7">
            <a:alphaModFix/>
          </a:blip>
          <a:srcRect l="0" t="0" r="0" b="0"/>
          <a:stretch/>
        </p:blipFill>
        <p:spPr bwMode="auto">
          <a:xfrm>
            <a:off x="4645074" y="1931640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36775198" name="Google Shape;168;p17"/>
          <p:cNvSpPr txBox="1"/>
          <p:nvPr/>
        </p:nvSpPr>
        <p:spPr bwMode="auto">
          <a:xfrm>
            <a:off x="4645074" y="2826990"/>
            <a:ext cx="3047099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100" b="0" i="0" u="none" strike="noStrike" cap="none">
                <a:solidFill>
                  <a:srgbClr val="0F172A"/>
                </a:solidFill>
                <a:latin typeface="Outfit SemiBold"/>
                <a:ea typeface="Outfit SemiBold"/>
                <a:cs typeface="Outfit SemiBold"/>
              </a:rPr>
              <a:t>2. Evaluators</a:t>
            </a:r>
            <a:endParaRPr/>
          </a:p>
        </p:txBody>
      </p:sp>
      <p:sp>
        <p:nvSpPr>
          <p:cNvPr id="1068650505" name="Google Shape;169;p17"/>
          <p:cNvSpPr txBox="1"/>
          <p:nvPr/>
        </p:nvSpPr>
        <p:spPr bwMode="auto">
          <a:xfrm>
            <a:off x="4645074" y="3299370"/>
            <a:ext cx="290199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Verify local output before sending to remote.</a:t>
            </a:r>
            <a:endParaRPr/>
          </a:p>
        </p:txBody>
      </p:sp>
      <p:pic>
        <p:nvPicPr>
          <p:cNvPr id="1788359212" name="Google Shape;170;p17" descr="image.png"/>
          <p:cNvPicPr/>
          <p:nvPr/>
        </p:nvPicPr>
        <p:blipFill rotWithShape="1">
          <a:blip r:embed="rId8">
            <a:alphaModFix/>
          </a:blip>
          <a:srcRect l="0" t="0" r="0" b="0"/>
          <a:stretch/>
        </p:blipFill>
        <p:spPr bwMode="auto">
          <a:xfrm>
            <a:off x="8423374" y="1931640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715552231" name="Google Shape;171;p17"/>
          <p:cNvSpPr txBox="1"/>
          <p:nvPr/>
        </p:nvSpPr>
        <p:spPr bwMode="auto">
          <a:xfrm>
            <a:off x="8423374" y="2826990"/>
            <a:ext cx="3047099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100" b="0" i="0" u="none" strike="noStrike" cap="none">
                <a:solidFill>
                  <a:srgbClr val="0F172A"/>
                </a:solidFill>
                <a:latin typeface="Outfit SemiBold"/>
                <a:ea typeface="Outfit SemiBold"/>
                <a:cs typeface="Outfit SemiBold"/>
              </a:rPr>
              <a:t>3. Adjusters</a:t>
            </a:r>
            <a:endParaRPr/>
          </a:p>
        </p:txBody>
      </p:sp>
      <p:sp>
        <p:nvSpPr>
          <p:cNvPr id="426101811" name="Google Shape;172;p17"/>
          <p:cNvSpPr txBox="1"/>
          <p:nvPr/>
        </p:nvSpPr>
        <p:spPr bwMode="auto">
          <a:xfrm>
            <a:off x="8423374" y="3299370"/>
            <a:ext cx="290199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Maintain stability and guard token limits.</a:t>
            </a:r>
            <a:endParaRPr/>
          </a:p>
        </p:txBody>
      </p:sp>
      <p:pic>
        <p:nvPicPr>
          <p:cNvPr id="632541182" name="Google Shape;173;p17" descr="image.png"/>
          <p:cNvPicPr/>
          <p:nvPr/>
        </p:nvPicPr>
        <p:blipFill rotWithShape="1">
          <a:blip r:embed="rId9">
            <a:alphaModFix/>
          </a:blip>
          <a:srcRect l="0" t="0" r="0" b="0"/>
          <a:stretch/>
        </p:blipFill>
        <p:spPr bwMode="auto">
          <a:xfrm>
            <a:off x="1033462" y="2074515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902473" name="Google Shape;174;p17"/>
          <p:cNvSpPr txBox="1"/>
          <p:nvPr/>
        </p:nvSpPr>
        <p:spPr bwMode="auto">
          <a:xfrm>
            <a:off x="1171575" y="4204245"/>
            <a:ext cx="259719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Semantic Cache</a:t>
            </a:r>
            <a:endParaRPr/>
          </a:p>
        </p:txBody>
      </p:sp>
      <p:sp>
        <p:nvSpPr>
          <p:cNvPr id="55534024" name="Google Shape;175;p17"/>
          <p:cNvSpPr txBox="1"/>
          <p:nvPr/>
        </p:nvSpPr>
        <p:spPr bwMode="auto">
          <a:xfrm>
            <a:off x="1171575" y="4661445"/>
            <a:ext cx="259719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Predictive Gate</a:t>
            </a:r>
            <a:endParaRPr/>
          </a:p>
        </p:txBody>
      </p:sp>
      <p:sp>
        <p:nvSpPr>
          <p:cNvPr id="565633740" name="Google Shape;176;p17"/>
          <p:cNvSpPr txBox="1"/>
          <p:nvPr/>
        </p:nvSpPr>
        <p:spPr bwMode="auto">
          <a:xfrm>
            <a:off x="1171575" y="5118645"/>
            <a:ext cx="259719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Parameter Sweep</a:t>
            </a:r>
            <a:endParaRPr/>
          </a:p>
        </p:txBody>
      </p:sp>
      <p:pic>
        <p:nvPicPr>
          <p:cNvPr id="584111904" name="Google Shape;177;p17" descr="image.png"/>
          <p:cNvPicPr/>
          <p:nvPr/>
        </p:nvPicPr>
        <p:blipFill rotWithShape="1">
          <a:blip r:embed="rId10">
            <a:alphaModFix/>
          </a:blip>
          <a:srcRect l="0" t="0" r="0" b="0"/>
          <a:stretch/>
        </p:blipFill>
        <p:spPr bwMode="auto">
          <a:xfrm>
            <a:off x="4787949" y="207451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893530781" name="Google Shape;178;p17"/>
          <p:cNvSpPr txBox="1"/>
          <p:nvPr/>
        </p:nvSpPr>
        <p:spPr bwMode="auto">
          <a:xfrm>
            <a:off x="4949874" y="4204245"/>
            <a:ext cx="259719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Syntax Compiler</a:t>
            </a:r>
            <a:endParaRPr/>
          </a:p>
        </p:txBody>
      </p:sp>
      <p:sp>
        <p:nvSpPr>
          <p:cNvPr id="2093136533" name="Google Shape;179;p17"/>
          <p:cNvSpPr txBox="1"/>
          <p:nvPr/>
        </p:nvSpPr>
        <p:spPr bwMode="auto">
          <a:xfrm>
            <a:off x="4949874" y="4661445"/>
            <a:ext cx="259719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Token Entropy</a:t>
            </a:r>
            <a:endParaRPr/>
          </a:p>
        </p:txBody>
      </p:sp>
      <p:sp>
        <p:nvSpPr>
          <p:cNvPr id="1994565484" name="Google Shape;180;p17"/>
          <p:cNvSpPr txBox="1"/>
          <p:nvPr/>
        </p:nvSpPr>
        <p:spPr bwMode="auto">
          <a:xfrm>
            <a:off x="4949874" y="5118645"/>
            <a:ext cx="259719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Self-Consistency</a:t>
            </a:r>
            <a:endParaRPr/>
          </a:p>
        </p:txBody>
      </p:sp>
      <p:pic>
        <p:nvPicPr>
          <p:cNvPr id="551168096" name="Google Shape;181;p17" descr="image.png"/>
          <p:cNvPicPr/>
          <p:nvPr/>
        </p:nvPicPr>
        <p:blipFill rotWithShape="1">
          <a:blip r:embed="rId11">
            <a:alphaModFix/>
          </a:blip>
          <a:srcRect l="0" t="0" r="0" b="0"/>
          <a:stretch/>
        </p:blipFill>
        <p:spPr bwMode="auto">
          <a:xfrm>
            <a:off x="8566249" y="207451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1654105" name="Google Shape;182;p17"/>
          <p:cNvSpPr txBox="1"/>
          <p:nvPr/>
        </p:nvSpPr>
        <p:spPr bwMode="auto">
          <a:xfrm>
            <a:off x="8728174" y="4204245"/>
            <a:ext cx="259719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Budget Telemetry</a:t>
            </a:r>
            <a:endParaRPr/>
          </a:p>
        </p:txBody>
      </p:sp>
      <p:sp>
        <p:nvSpPr>
          <p:cNvPr id="192748950" name="Google Shape;183;p17"/>
          <p:cNvSpPr txBox="1"/>
          <p:nvPr/>
        </p:nvSpPr>
        <p:spPr bwMode="auto">
          <a:xfrm>
            <a:off x="8728174" y="4661445"/>
            <a:ext cx="259719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Threshold Tuning</a:t>
            </a:r>
            <a:endParaRPr/>
          </a:p>
        </p:txBody>
      </p:sp>
      <p:sp>
        <p:nvSpPr>
          <p:cNvPr id="317107293" name="Google Shape;184;p17"/>
          <p:cNvSpPr txBox="1"/>
          <p:nvPr/>
        </p:nvSpPr>
        <p:spPr bwMode="auto">
          <a:xfrm>
            <a:off x="8728174" y="5118645"/>
            <a:ext cx="259719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Beta Feedback Loop</a:t>
            </a:r>
            <a:endParaRPr/>
          </a:p>
        </p:txBody>
      </p:sp>
      <p:sp>
        <p:nvSpPr>
          <p:cNvPr id="1688593655" name="Google Shape;185;p17"/>
          <p:cNvSpPr txBox="1"/>
          <p:nvPr/>
        </p:nvSpPr>
        <p:spPr bwMode="auto">
          <a:xfrm>
            <a:off x="571500" y="571500"/>
            <a:ext cx="11601450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3300" b="0" i="0" u="none" strike="noStrike" cap="none">
                <a:solidFill>
                  <a:srgbClr val="0F172A"/>
                </a:solidFill>
                <a:latin typeface="Outfit SemiBold"/>
                <a:ea typeface="Outfit SemiBold"/>
                <a:cs typeface="Outfit SemiBold"/>
              </a:rPr>
              <a:t>System Overview: Dynamic Pipeline</a:t>
            </a:r>
            <a:endParaRPr/>
          </a:p>
        </p:txBody>
      </p:sp>
      <p:sp>
        <p:nvSpPr>
          <p:cNvPr id="811072702" name="Google Shape;186;p17"/>
          <p:cNvSpPr/>
          <p:nvPr/>
        </p:nvSpPr>
        <p:spPr bwMode="auto">
          <a:xfrm>
            <a:off x="571500" y="118869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957018842" name="Google Shape;187;p17" descr="image.png"/>
          <p:cNvPicPr/>
          <p:nvPr/>
        </p:nvPicPr>
        <p:blipFill rotWithShape="1">
          <a:blip r:embed="rId12">
            <a:alphaModFix/>
          </a:blip>
          <a:srcRect l="0" t="0" r="0" b="0"/>
          <a:stretch/>
        </p:blipFill>
        <p:spPr bwMode="auto">
          <a:xfrm>
            <a:off x="866775" y="4213770"/>
            <a:ext cx="104775" cy="219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0406186" name="Google Shape;188;p17" descr="image.png"/>
          <p:cNvPicPr/>
          <p:nvPr/>
        </p:nvPicPr>
        <p:blipFill rotWithShape="1">
          <a:blip r:embed="rId12">
            <a:alphaModFix/>
          </a:blip>
          <a:srcRect l="0" t="0" r="0" b="0"/>
          <a:stretch/>
        </p:blipFill>
        <p:spPr bwMode="auto">
          <a:xfrm>
            <a:off x="866775" y="4670970"/>
            <a:ext cx="104775" cy="219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15444441" name="Google Shape;189;p17" descr="image.png"/>
          <p:cNvPicPr/>
          <p:nvPr/>
        </p:nvPicPr>
        <p:blipFill rotWithShape="1">
          <a:blip r:embed="rId12">
            <a:alphaModFix/>
          </a:blip>
          <a:srcRect l="0" t="0" r="0" b="0"/>
          <a:stretch/>
        </p:blipFill>
        <p:spPr bwMode="auto">
          <a:xfrm>
            <a:off x="866775" y="5128170"/>
            <a:ext cx="104775" cy="219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9692691" name="Google Shape;190;p17" descr="image.png"/>
          <p:cNvPicPr/>
          <p:nvPr/>
        </p:nvPicPr>
        <p:blipFill rotWithShape="1">
          <a:blip r:embed="rId12">
            <a:alphaModFix/>
          </a:blip>
          <a:srcRect l="0" t="0" r="0" b="0"/>
          <a:stretch/>
        </p:blipFill>
        <p:spPr bwMode="auto">
          <a:xfrm>
            <a:off x="4645074" y="4213770"/>
            <a:ext cx="104775" cy="219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9369416" name="Google Shape;191;p17" descr="image.png"/>
          <p:cNvPicPr/>
          <p:nvPr/>
        </p:nvPicPr>
        <p:blipFill rotWithShape="1">
          <a:blip r:embed="rId12">
            <a:alphaModFix/>
          </a:blip>
          <a:srcRect l="0" t="0" r="0" b="0"/>
          <a:stretch/>
        </p:blipFill>
        <p:spPr bwMode="auto">
          <a:xfrm>
            <a:off x="4645074" y="4670970"/>
            <a:ext cx="104775" cy="219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8911" name="Google Shape;192;p17" descr="image.png"/>
          <p:cNvPicPr/>
          <p:nvPr/>
        </p:nvPicPr>
        <p:blipFill rotWithShape="1">
          <a:blip r:embed="rId12">
            <a:alphaModFix/>
          </a:blip>
          <a:srcRect l="0" t="0" r="0" b="0"/>
          <a:stretch/>
        </p:blipFill>
        <p:spPr bwMode="auto">
          <a:xfrm>
            <a:off x="4645074" y="5128170"/>
            <a:ext cx="104775" cy="219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7966222" name="Google Shape;193;p17" descr="image.png"/>
          <p:cNvPicPr/>
          <p:nvPr/>
        </p:nvPicPr>
        <p:blipFill rotWithShape="1">
          <a:blip r:embed="rId12">
            <a:alphaModFix/>
          </a:blip>
          <a:srcRect l="0" t="0" r="0" b="0"/>
          <a:stretch/>
        </p:blipFill>
        <p:spPr bwMode="auto">
          <a:xfrm>
            <a:off x="8423374" y="4213770"/>
            <a:ext cx="104775" cy="219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38642810" name="Google Shape;194;p17" descr="image.png"/>
          <p:cNvPicPr/>
          <p:nvPr/>
        </p:nvPicPr>
        <p:blipFill rotWithShape="1">
          <a:blip r:embed="rId12">
            <a:alphaModFix/>
          </a:blip>
          <a:srcRect l="0" t="0" r="0" b="0"/>
          <a:stretch/>
        </p:blipFill>
        <p:spPr bwMode="auto">
          <a:xfrm>
            <a:off x="8423374" y="4670970"/>
            <a:ext cx="104775" cy="219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385129" name="Google Shape;195;p17" descr="image.png"/>
          <p:cNvPicPr/>
          <p:nvPr/>
        </p:nvPicPr>
        <p:blipFill rotWithShape="1">
          <a:blip r:embed="rId12">
            <a:alphaModFix/>
          </a:blip>
          <a:srcRect l="0" t="0" r="0" b="0"/>
          <a:stretch/>
        </p:blipFill>
        <p:spPr bwMode="auto">
          <a:xfrm>
            <a:off x="8423374" y="5128170"/>
            <a:ext cx="104775" cy="219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77697467" name="Google Shape;200;p18" descr="image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590400" y="3963715"/>
            <a:ext cx="2651670" cy="1535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2907754" name="Google Shape;201;p18" descr="image.png"/>
          <p:cNvPicPr/>
          <p:nvPr/>
        </p:nvPicPr>
        <p:blipFill rotWithShape="1">
          <a:blip r:embed="rId4">
            <a:alphaModFix/>
          </a:blip>
          <a:srcRect l="0" t="0" r="0" b="0"/>
          <a:stretch/>
        </p:blipFill>
        <p:spPr bwMode="auto">
          <a:xfrm>
            <a:off x="3389410" y="2005583"/>
            <a:ext cx="2651670" cy="129138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771795" name="Google Shape;202;p18" descr="image.png"/>
          <p:cNvPicPr/>
          <p:nvPr/>
        </p:nvPicPr>
        <p:blipFill rotWithShape="1">
          <a:blip r:embed="rId5">
            <a:alphaModFix/>
          </a:blip>
          <a:srcRect l="0" t="0" r="0" b="0"/>
          <a:stretch/>
        </p:blipFill>
        <p:spPr bwMode="auto">
          <a:xfrm>
            <a:off x="6188421" y="3963715"/>
            <a:ext cx="2651670" cy="1535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1996536" name="Google Shape;203;p18" descr="image.png"/>
          <p:cNvPicPr/>
          <p:nvPr/>
        </p:nvPicPr>
        <p:blipFill rotWithShape="1">
          <a:blip r:embed="rId6">
            <a:alphaModFix/>
          </a:blip>
          <a:srcRect l="0" t="0" r="0" b="0"/>
          <a:stretch/>
        </p:blipFill>
        <p:spPr bwMode="auto">
          <a:xfrm>
            <a:off x="8987431" y="1761803"/>
            <a:ext cx="2651670" cy="1535162"/>
          </a:xfrm>
          <a:prstGeom prst="rect">
            <a:avLst/>
          </a:prstGeom>
          <a:noFill/>
          <a:ln>
            <a:noFill/>
          </a:ln>
        </p:spPr>
      </p:pic>
      <p:sp>
        <p:nvSpPr>
          <p:cNvPr id="859023407" name="Google Shape;204;p18"/>
          <p:cNvSpPr/>
          <p:nvPr/>
        </p:nvSpPr>
        <p:spPr bwMode="auto">
          <a:xfrm>
            <a:off x="1142850" y="3611290"/>
            <a:ext cx="99441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72443157" name="Google Shape;205;p18"/>
          <p:cNvSpPr txBox="1"/>
          <p:nvPr/>
        </p:nvSpPr>
        <p:spPr bwMode="auto">
          <a:xfrm>
            <a:off x="684128" y="4163740"/>
            <a:ext cx="24642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650" b="0" i="0" u="none" strike="noStrike" cap="none">
                <a:solidFill>
                  <a:srgbClr val="0F172A"/>
                </a:solidFill>
                <a:latin typeface="Outfit SemiBold"/>
                <a:ea typeface="Outfit SemiBold"/>
                <a:cs typeface="Outfit SemiBold"/>
              </a:rPr>
              <a:t>1. Frontline</a:t>
            </a:r>
            <a:endParaRPr/>
          </a:p>
        </p:txBody>
      </p:sp>
      <p:sp>
        <p:nvSpPr>
          <p:cNvPr id="204489412" name="Google Shape;206;p18"/>
          <p:cNvSpPr txBox="1"/>
          <p:nvPr/>
        </p:nvSpPr>
        <p:spPr bwMode="auto">
          <a:xfrm>
            <a:off x="742800" y="4567510"/>
            <a:ext cx="2346900" cy="7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Semantic Cache checks embeddings. Predictive Gate assesses complexity.</a:t>
            </a:r>
            <a:endParaRPr/>
          </a:p>
        </p:txBody>
      </p:sp>
      <p:sp>
        <p:nvSpPr>
          <p:cNvPr id="1503203088" name="Google Shape;207;p18"/>
          <p:cNvSpPr txBox="1"/>
          <p:nvPr/>
        </p:nvSpPr>
        <p:spPr bwMode="auto">
          <a:xfrm>
            <a:off x="3483138" y="2205608"/>
            <a:ext cx="24642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650" b="0" i="0" u="none" strike="noStrike" cap="none">
                <a:solidFill>
                  <a:srgbClr val="0F172A"/>
                </a:solidFill>
                <a:latin typeface="Outfit SemiBold"/>
                <a:ea typeface="Outfit SemiBold"/>
                <a:cs typeface="Outfit SemiBold"/>
              </a:rPr>
              <a:t>2. Local Cascade</a:t>
            </a:r>
            <a:endParaRPr/>
          </a:p>
        </p:txBody>
      </p:sp>
      <p:sp>
        <p:nvSpPr>
          <p:cNvPr id="1290908062" name="Google Shape;208;p18"/>
          <p:cNvSpPr txBox="1"/>
          <p:nvPr/>
        </p:nvSpPr>
        <p:spPr bwMode="auto">
          <a:xfrm>
            <a:off x="3541810" y="2609379"/>
            <a:ext cx="23469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Qwen 0.5B generates initial response and token logprobs.</a:t>
            </a:r>
            <a:endParaRPr/>
          </a:p>
        </p:txBody>
      </p:sp>
      <p:sp>
        <p:nvSpPr>
          <p:cNvPr id="1933153786" name="Google Shape;209;p18"/>
          <p:cNvSpPr txBox="1"/>
          <p:nvPr/>
        </p:nvSpPr>
        <p:spPr bwMode="auto">
          <a:xfrm>
            <a:off x="6282149" y="4163740"/>
            <a:ext cx="24642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650" b="0" i="0" u="none" strike="noStrike" cap="none">
                <a:solidFill>
                  <a:srgbClr val="0F172A"/>
                </a:solidFill>
                <a:latin typeface="Outfit SemiBold"/>
                <a:ea typeface="Outfit SemiBold"/>
                <a:cs typeface="Outfit SemiBold"/>
              </a:rPr>
              <a:t>3. Trust Evaluator</a:t>
            </a:r>
            <a:endParaRPr/>
          </a:p>
        </p:txBody>
      </p:sp>
      <p:sp>
        <p:nvSpPr>
          <p:cNvPr id="1679439928" name="Google Shape;210;p18"/>
          <p:cNvSpPr txBox="1"/>
          <p:nvPr/>
        </p:nvSpPr>
        <p:spPr bwMode="auto">
          <a:xfrm>
            <a:off x="6340821" y="4567510"/>
            <a:ext cx="2346900" cy="7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Analyzes entropy, verifies syntax, and checks embedding consistency.</a:t>
            </a:r>
            <a:endParaRPr/>
          </a:p>
        </p:txBody>
      </p:sp>
      <p:sp>
        <p:nvSpPr>
          <p:cNvPr id="862319861" name="Google Shape;211;p18"/>
          <p:cNvSpPr txBox="1"/>
          <p:nvPr/>
        </p:nvSpPr>
        <p:spPr bwMode="auto">
          <a:xfrm>
            <a:off x="9081159" y="1961828"/>
            <a:ext cx="24642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650" b="0" i="0" u="none" strike="noStrike" cap="none">
                <a:solidFill>
                  <a:srgbClr val="0F172A"/>
                </a:solidFill>
                <a:latin typeface="Outfit SemiBold"/>
                <a:ea typeface="Outfit SemiBold"/>
                <a:cs typeface="Outfit SemiBold"/>
              </a:rPr>
              <a:t>4. Remote &amp; Adjust</a:t>
            </a:r>
            <a:endParaRPr/>
          </a:p>
        </p:txBody>
      </p:sp>
      <p:sp>
        <p:nvSpPr>
          <p:cNvPr id="1894619628" name="Google Shape;212;p18"/>
          <p:cNvSpPr txBox="1"/>
          <p:nvPr/>
        </p:nvSpPr>
        <p:spPr bwMode="auto">
          <a:xfrm>
            <a:off x="9139831" y="2365598"/>
            <a:ext cx="2346900" cy="7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Llama 70B used if local fails. Budget Adjuster tracks telemetry.</a:t>
            </a:r>
            <a:endParaRPr/>
          </a:p>
        </p:txBody>
      </p:sp>
      <p:sp>
        <p:nvSpPr>
          <p:cNvPr id="1123809551" name="Google Shape;213;p18"/>
          <p:cNvSpPr/>
          <p:nvPr/>
        </p:nvSpPr>
        <p:spPr bwMode="auto">
          <a:xfrm>
            <a:off x="1801935" y="351604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63223114" name="Google Shape;214;p18"/>
          <p:cNvSpPr/>
          <p:nvPr/>
        </p:nvSpPr>
        <p:spPr bwMode="auto">
          <a:xfrm>
            <a:off x="4600945" y="351604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06259214" name="Google Shape;215;p18"/>
          <p:cNvSpPr/>
          <p:nvPr/>
        </p:nvSpPr>
        <p:spPr bwMode="auto">
          <a:xfrm>
            <a:off x="7399956" y="351604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7624055" name="Google Shape;216;p18"/>
          <p:cNvSpPr/>
          <p:nvPr/>
        </p:nvSpPr>
        <p:spPr bwMode="auto">
          <a:xfrm>
            <a:off x="10198966" y="351604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8306691" name="Google Shape;217;p18"/>
          <p:cNvSpPr txBox="1"/>
          <p:nvPr/>
        </p:nvSpPr>
        <p:spPr bwMode="auto">
          <a:xfrm>
            <a:off x="590400" y="633250"/>
            <a:ext cx="11601600" cy="507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3300" b="0" i="0" u="none" strike="noStrike" cap="none">
                <a:solidFill>
                  <a:srgbClr val="0F172A"/>
                </a:solidFill>
                <a:latin typeface="Outfit SemiBold"/>
                <a:ea typeface="Outfit SemiBold"/>
                <a:cs typeface="Outfit SemiBold"/>
              </a:rPr>
              <a:t>Detailed HMR Architecture</a:t>
            </a:r>
            <a:endParaRPr/>
          </a:p>
        </p:txBody>
      </p:sp>
      <p:sp>
        <p:nvSpPr>
          <p:cNvPr id="23312622" name="Google Shape;218;p18"/>
          <p:cNvSpPr/>
          <p:nvPr/>
        </p:nvSpPr>
        <p:spPr bwMode="auto">
          <a:xfrm>
            <a:off x="590400" y="1250440"/>
            <a:ext cx="11049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48246669" name="Google Shape;223;p19" descr="image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571500" y="1133772"/>
            <a:ext cx="5238750" cy="1211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108430" name="Google Shape;224;p19" descr="image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571500" y="2535733"/>
            <a:ext cx="5238750" cy="1211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8490024" name="Google Shape;225;p19" descr="image.png"/>
          <p:cNvPicPr/>
          <p:nvPr/>
        </p:nvPicPr>
        <p:blipFill rotWithShape="1">
          <a:blip r:embed="rId4">
            <a:alphaModFix/>
          </a:blip>
          <a:srcRect l="0" t="0" r="0" b="0"/>
          <a:stretch/>
        </p:blipFill>
        <p:spPr bwMode="auto">
          <a:xfrm>
            <a:off x="571500" y="3937694"/>
            <a:ext cx="5238750" cy="1211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3788835" name="Google Shape;226;p19" descr="image.png"/>
          <p:cNvPicPr/>
          <p:nvPr/>
        </p:nvPicPr>
        <p:blipFill rotWithShape="1">
          <a:blip r:embed="rId5">
            <a:alphaModFix/>
          </a:blip>
          <a:srcRect l="0" t="0" r="0" b="0"/>
          <a:stretch/>
        </p:blipFill>
        <p:spPr bwMode="auto">
          <a:xfrm>
            <a:off x="571500" y="5339655"/>
            <a:ext cx="5238750" cy="1211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8662813" name="Google Shape;227;p19" descr="image.png"/>
          <p:cNvPicPr/>
          <p:nvPr/>
        </p:nvPicPr>
        <p:blipFill rotWithShape="1">
          <a:blip r:embed="rId6">
            <a:alphaModFix/>
          </a:blip>
          <a:srcRect l="0" t="0" r="0" b="0"/>
          <a:stretch/>
        </p:blipFill>
        <p:spPr bwMode="auto">
          <a:xfrm>
            <a:off x="6381750" y="1651694"/>
            <a:ext cx="5238750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1852857" name="Google Shape;228;p19"/>
          <p:cNvSpPr txBox="1"/>
          <p:nvPr/>
        </p:nvSpPr>
        <p:spPr bwMode="auto">
          <a:xfrm>
            <a:off x="800100" y="1324272"/>
            <a:ext cx="5060632" cy="20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0" i="0" u="none" strike="noStrike" cap="none">
                <a:solidFill>
                  <a:srgbClr val="0F172A"/>
                </a:solidFill>
                <a:latin typeface="Outfit SemiBold"/>
                <a:ea typeface="Outfit SemiBold"/>
                <a:cs typeface="Outfit SemiBold"/>
              </a:rPr>
              <a:t>1. INPUT PROMPT</a:t>
            </a:r>
            <a:endParaRPr/>
          </a:p>
        </p:txBody>
      </p:sp>
      <p:sp>
        <p:nvSpPr>
          <p:cNvPr id="1982988226" name="Google Shape;229;p19"/>
          <p:cNvSpPr txBox="1"/>
          <p:nvPr/>
        </p:nvSpPr>
        <p:spPr bwMode="auto">
          <a:xfrm>
            <a:off x="800100" y="1606153"/>
            <a:ext cx="48196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"Write python code to compute Fibonacci using recursion."</a:t>
            </a:r>
            <a:endParaRPr/>
          </a:p>
        </p:txBody>
      </p:sp>
      <p:sp>
        <p:nvSpPr>
          <p:cNvPr id="1792005782" name="Google Shape;230;p19"/>
          <p:cNvSpPr txBox="1"/>
          <p:nvPr/>
        </p:nvSpPr>
        <p:spPr bwMode="auto">
          <a:xfrm>
            <a:off x="800100" y="2726233"/>
            <a:ext cx="5060632" cy="20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0" i="0" u="none" strike="noStrike" cap="none">
                <a:solidFill>
                  <a:srgbClr val="0F172A"/>
                </a:solidFill>
                <a:latin typeface="Outfit SemiBold"/>
                <a:ea typeface="Outfit SemiBold"/>
                <a:cs typeface="Outfit SemiBold"/>
              </a:rPr>
              <a:t>2. LOCAL EXECUTION</a:t>
            </a:r>
            <a:endParaRPr/>
          </a:p>
        </p:txBody>
      </p:sp>
      <p:sp>
        <p:nvSpPr>
          <p:cNvPr id="1871230186" name="Google Shape;231;p19"/>
          <p:cNvSpPr txBox="1"/>
          <p:nvPr/>
        </p:nvSpPr>
        <p:spPr bwMode="auto">
          <a:xfrm>
            <a:off x="800100" y="3008113"/>
            <a:ext cx="48196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Qwen 0.5B runs. Output code generated. Logprobs gathered (Temp 0.7 runs x3).</a:t>
            </a:r>
            <a:endParaRPr/>
          </a:p>
        </p:txBody>
      </p:sp>
      <p:sp>
        <p:nvSpPr>
          <p:cNvPr id="705138154" name="Google Shape;232;p19"/>
          <p:cNvSpPr txBox="1"/>
          <p:nvPr/>
        </p:nvSpPr>
        <p:spPr bwMode="auto">
          <a:xfrm>
            <a:off x="800100" y="4128194"/>
            <a:ext cx="5060632" cy="20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0" i="0" u="none" strike="noStrike" cap="none">
                <a:solidFill>
                  <a:srgbClr val="0F172A"/>
                </a:solidFill>
                <a:latin typeface="Outfit SemiBold"/>
                <a:ea typeface="Outfit SemiBold"/>
                <a:cs typeface="Outfit SemiBold"/>
              </a:rPr>
              <a:t>3. TRUST EVALUATION</a:t>
            </a:r>
            <a:endParaRPr/>
          </a:p>
        </p:txBody>
      </p:sp>
      <p:sp>
        <p:nvSpPr>
          <p:cNvPr id="1626428857" name="Google Shape;233;p19"/>
          <p:cNvSpPr txBox="1"/>
          <p:nvPr/>
        </p:nvSpPr>
        <p:spPr bwMode="auto">
          <a:xfrm>
            <a:off x="800100" y="4410075"/>
            <a:ext cx="48196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Syntax: </a:t>
            </a:r>
            <a:r>
              <a:rPr lang="en-US" sz="1350" b="0" i="0" u="none" strike="noStrike" cap="none">
                <a:solidFill>
                  <a:srgbClr val="10B981"/>
                </a:solidFill>
                <a:latin typeface="Inter"/>
                <a:ea typeface="Inter"/>
                <a:cs typeface="Inter"/>
              </a:rPr>
              <a:t>Pass</a:t>
            </a: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 | Entropy: </a:t>
            </a:r>
            <a:r>
              <a:rPr lang="en-US" sz="1350" b="0" i="0" u="none" strike="noStrike" cap="none">
                <a:solidFill>
                  <a:srgbClr val="10B981"/>
                </a:solidFill>
                <a:latin typeface="Inter"/>
                <a:ea typeface="Inter"/>
                <a:cs typeface="Inter"/>
              </a:rPr>
              <a:t>0.12 (Good)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</a:b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 Consistency: </a:t>
            </a:r>
            <a:r>
              <a:rPr lang="en-US" sz="1350" b="0" i="0" u="none" strike="noStrike" cap="none">
                <a:solidFill>
                  <a:srgbClr val="EF4444"/>
                </a:solidFill>
                <a:latin typeface="Inter"/>
                <a:ea typeface="Inter"/>
                <a:cs typeface="Inter"/>
              </a:rPr>
              <a:t>0.34 (Hallucinating! Escalate)</a:t>
            </a:r>
            <a:endParaRPr/>
          </a:p>
        </p:txBody>
      </p:sp>
      <p:sp>
        <p:nvSpPr>
          <p:cNvPr id="483506513" name="Google Shape;234;p19"/>
          <p:cNvSpPr txBox="1"/>
          <p:nvPr/>
        </p:nvSpPr>
        <p:spPr bwMode="auto">
          <a:xfrm>
            <a:off x="800100" y="5530155"/>
            <a:ext cx="5060632" cy="20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0" i="0" u="none" strike="noStrike" cap="none">
                <a:solidFill>
                  <a:srgbClr val="0F172A"/>
                </a:solidFill>
                <a:latin typeface="Outfit SemiBold"/>
                <a:ea typeface="Outfit SemiBold"/>
                <a:cs typeface="Outfit SemiBold"/>
              </a:rPr>
              <a:t>4. REMOTE &amp; CACHE</a:t>
            </a:r>
            <a:endParaRPr/>
          </a:p>
        </p:txBody>
      </p:sp>
      <p:sp>
        <p:nvSpPr>
          <p:cNvPr id="1062647775" name="Google Shape;235;p19"/>
          <p:cNvSpPr txBox="1"/>
          <p:nvPr/>
        </p:nvSpPr>
        <p:spPr bwMode="auto">
          <a:xfrm>
            <a:off x="800100" y="5812035"/>
            <a:ext cx="48196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Llama 3 70B queried. Return robust output. Save prompt/response to cache.</a:t>
            </a:r>
            <a:endParaRPr/>
          </a:p>
        </p:txBody>
      </p:sp>
      <p:pic>
        <p:nvPicPr>
          <p:cNvPr id="96264766" name="Google Shape;236;p19" descr="image.png"/>
          <p:cNvPicPr/>
          <p:nvPr/>
        </p:nvPicPr>
        <p:blipFill rotWithShape="1">
          <a:blip r:embed="rId7">
            <a:alphaModFix/>
          </a:blip>
          <a:srcRect l="0" t="0" r="0" b="0"/>
          <a:stretch/>
        </p:blipFill>
        <p:spPr bwMode="auto">
          <a:xfrm>
            <a:off x="6391275" y="1661219"/>
            <a:ext cx="5219700" cy="4552950"/>
          </a:xfrm>
          <a:prstGeom prst="rect">
            <a:avLst/>
          </a:prstGeom>
          <a:noFill/>
          <a:ln>
            <a:noFill/>
          </a:ln>
        </p:spPr>
      </p:pic>
      <p:sp>
        <p:nvSpPr>
          <p:cNvPr id="1908116999" name="Google Shape;237;p19"/>
          <p:cNvSpPr txBox="1"/>
          <p:nvPr/>
        </p:nvSpPr>
        <p:spPr bwMode="auto">
          <a:xfrm>
            <a:off x="571500" y="116532"/>
            <a:ext cx="11601450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3300" b="0" i="0" u="none" strike="noStrike" cap="none">
                <a:solidFill>
                  <a:srgbClr val="0F172A"/>
                </a:solidFill>
                <a:latin typeface="Outfit SemiBold"/>
                <a:ea typeface="Outfit SemiBold"/>
                <a:cs typeface="Outfit SemiBold"/>
              </a:rPr>
              <a:t>Data Flow Example</a:t>
            </a:r>
            <a:endParaRPr/>
          </a:p>
        </p:txBody>
      </p:sp>
      <p:sp>
        <p:nvSpPr>
          <p:cNvPr id="689509406" name="Google Shape;238;p19"/>
          <p:cNvSpPr/>
          <p:nvPr/>
        </p:nvSpPr>
        <p:spPr bwMode="auto">
          <a:xfrm>
            <a:off x="571500" y="733722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25156946" name="Google Shape;243;p20" descr="image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571500" y="1470719"/>
            <a:ext cx="5381625" cy="222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120193" name="Google Shape;244;p20" descr="image.png"/>
          <p:cNvPicPr/>
          <p:nvPr/>
        </p:nvPicPr>
        <p:blipFill rotWithShape="1">
          <a:blip r:embed="rId4">
            <a:alphaModFix/>
          </a:blip>
          <a:srcRect l="0" t="0" r="0" b="0"/>
          <a:stretch/>
        </p:blipFill>
        <p:spPr bwMode="auto">
          <a:xfrm>
            <a:off x="6238875" y="1470719"/>
            <a:ext cx="5381625" cy="222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2052244" name="Google Shape;245;p20" descr="image.png"/>
          <p:cNvPicPr/>
          <p:nvPr/>
        </p:nvPicPr>
        <p:blipFill rotWithShape="1">
          <a:blip r:embed="rId5">
            <a:alphaModFix/>
          </a:blip>
          <a:srcRect l="0" t="0" r="0" b="0"/>
          <a:stretch/>
        </p:blipFill>
        <p:spPr bwMode="auto">
          <a:xfrm>
            <a:off x="571500" y="3985319"/>
            <a:ext cx="5381625" cy="222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4328435" name="Google Shape;246;p20" descr="image.png"/>
          <p:cNvPicPr/>
          <p:nvPr/>
        </p:nvPicPr>
        <p:blipFill rotWithShape="1">
          <a:blip r:embed="rId4">
            <a:alphaModFix/>
          </a:blip>
          <a:srcRect l="0" t="0" r="0" b="0"/>
          <a:stretch/>
        </p:blipFill>
        <p:spPr bwMode="auto">
          <a:xfrm>
            <a:off x="6238875" y="3985319"/>
            <a:ext cx="5381625" cy="2228850"/>
          </a:xfrm>
          <a:prstGeom prst="rect">
            <a:avLst/>
          </a:prstGeom>
          <a:noFill/>
          <a:ln>
            <a:noFill/>
          </a:ln>
        </p:spPr>
      </p:pic>
      <p:sp>
        <p:nvSpPr>
          <p:cNvPr id="1783064347" name="Google Shape;247;p20"/>
          <p:cNvSpPr txBox="1"/>
          <p:nvPr/>
        </p:nvSpPr>
        <p:spPr bwMode="auto">
          <a:xfrm>
            <a:off x="866775" y="2337494"/>
            <a:ext cx="47910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UnifiedExecutor: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 Orchestrates execution lifecycle. Implements static, dynamic cascade, and adaptive routing. Falls back to best local on timeouts.</a:t>
            </a:r>
            <a:endParaRPr/>
          </a:p>
        </p:txBody>
      </p:sp>
      <p:sp>
        <p:nvSpPr>
          <p:cNvPr id="2042700121" name="Google Shape;248;p20"/>
          <p:cNvSpPr txBox="1"/>
          <p:nvPr/>
        </p:nvSpPr>
        <p:spPr bwMode="auto">
          <a:xfrm>
            <a:off x="6534150" y="2337494"/>
            <a:ext cx="47910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TrustEvaluator: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 Runs verification checks: compiles Python for syntax, evaluates entropy over logprobs, and calculates cosine embedding similarity.</a:t>
            </a:r>
            <a:endParaRPr/>
          </a:p>
        </p:txBody>
      </p:sp>
      <p:sp>
        <p:nvSpPr>
          <p:cNvPr id="897889682" name="Google Shape;249;p20"/>
          <p:cNvSpPr txBox="1"/>
          <p:nvPr/>
        </p:nvSpPr>
        <p:spPr bwMode="auto">
          <a:xfrm>
            <a:off x="866775" y="4852094"/>
            <a:ext cx="47910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SemanticCache: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 Calculates cosine similarity over embeddings. Serves similar requests instantly at a similarity threshold &gt; 0.95 (Zero tokens).</a:t>
            </a:r>
            <a:endParaRPr/>
          </a:p>
        </p:txBody>
      </p:sp>
      <p:sp>
        <p:nvSpPr>
          <p:cNvPr id="1649166995" name="Google Shape;250;p20"/>
          <p:cNvSpPr txBox="1"/>
          <p:nvPr/>
        </p:nvSpPr>
        <p:spPr bwMode="auto">
          <a:xfrm>
            <a:off x="6534150" y="4852094"/>
            <a:ext cx="47910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BudgetAwareAdjuster: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 Tracks real-time telemetry (burn rate). Dynamically adjusts thresholds based on budget pressure and reliability stats.</a:t>
            </a:r>
            <a:endParaRPr/>
          </a:p>
        </p:txBody>
      </p:sp>
      <p:pic>
        <p:nvPicPr>
          <p:cNvPr id="1792487603" name="Google Shape;251;p20" descr="image.png"/>
          <p:cNvPicPr/>
          <p:nvPr/>
        </p:nvPicPr>
        <p:blipFill rotWithShape="1">
          <a:blip r:embed="rId6">
            <a:alphaModFix/>
          </a:blip>
          <a:srcRect l="0" t="0" r="0" b="0"/>
          <a:stretch/>
        </p:blipFill>
        <p:spPr bwMode="auto">
          <a:xfrm>
            <a:off x="866775" y="1765994"/>
            <a:ext cx="4286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899173350" name="Google Shape;252;p20"/>
          <p:cNvSpPr txBox="1"/>
          <p:nvPr/>
        </p:nvSpPr>
        <p:spPr bwMode="auto">
          <a:xfrm>
            <a:off x="1438275" y="1843087"/>
            <a:ext cx="1290161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>
                <a:solidFill>
                  <a:srgbClr val="0F172A"/>
                </a:solidFill>
                <a:latin typeface="Outfit SemiBold"/>
                <a:ea typeface="Outfit SemiBold"/>
                <a:cs typeface="Outfit SemiBold"/>
              </a:rPr>
              <a:t>executor.py</a:t>
            </a:r>
            <a:endParaRPr/>
          </a:p>
        </p:txBody>
      </p:sp>
      <p:pic>
        <p:nvPicPr>
          <p:cNvPr id="1004202891" name="Google Shape;253;p20" descr="image.png"/>
          <p:cNvPicPr/>
          <p:nvPr/>
        </p:nvPicPr>
        <p:blipFill rotWithShape="1">
          <a:blip r:embed="rId7">
            <a:alphaModFix/>
          </a:blip>
          <a:srcRect l="0" t="0" r="0" b="0"/>
          <a:stretch/>
        </p:blipFill>
        <p:spPr bwMode="auto">
          <a:xfrm>
            <a:off x="6534150" y="1765994"/>
            <a:ext cx="4286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701651702" name="Google Shape;254;p20"/>
          <p:cNvSpPr txBox="1"/>
          <p:nvPr/>
        </p:nvSpPr>
        <p:spPr bwMode="auto">
          <a:xfrm>
            <a:off x="7105650" y="1843087"/>
            <a:ext cx="1380172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>
                <a:solidFill>
                  <a:srgbClr val="0F172A"/>
                </a:solidFill>
                <a:latin typeface="Outfit SemiBold"/>
                <a:ea typeface="Outfit SemiBold"/>
                <a:cs typeface="Outfit SemiBold"/>
              </a:rPr>
              <a:t>evaluator.py</a:t>
            </a:r>
            <a:endParaRPr/>
          </a:p>
        </p:txBody>
      </p:sp>
      <p:pic>
        <p:nvPicPr>
          <p:cNvPr id="537672681" name="Google Shape;255;p20" descr="image.png"/>
          <p:cNvPicPr/>
          <p:nvPr/>
        </p:nvPicPr>
        <p:blipFill rotWithShape="1">
          <a:blip r:embed="rId8">
            <a:alphaModFix/>
          </a:blip>
          <a:srcRect l="0" t="0" r="0" b="0"/>
          <a:stretch/>
        </p:blipFill>
        <p:spPr bwMode="auto">
          <a:xfrm>
            <a:off x="866775" y="4280594"/>
            <a:ext cx="4286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317628143" name="Google Shape;256;p20"/>
          <p:cNvSpPr txBox="1"/>
          <p:nvPr/>
        </p:nvSpPr>
        <p:spPr bwMode="auto">
          <a:xfrm>
            <a:off x="1438275" y="4357687"/>
            <a:ext cx="980122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>
                <a:solidFill>
                  <a:srgbClr val="0F172A"/>
                </a:solidFill>
                <a:latin typeface="Outfit SemiBold"/>
                <a:ea typeface="Outfit SemiBold"/>
                <a:cs typeface="Outfit SemiBold"/>
              </a:rPr>
              <a:t>cache.py</a:t>
            </a:r>
            <a:endParaRPr/>
          </a:p>
        </p:txBody>
      </p:sp>
      <p:pic>
        <p:nvPicPr>
          <p:cNvPr id="1203694804" name="Google Shape;257;p20" descr="image.png"/>
          <p:cNvPicPr/>
          <p:nvPr/>
        </p:nvPicPr>
        <p:blipFill rotWithShape="1">
          <a:blip r:embed="rId7">
            <a:alphaModFix/>
          </a:blip>
          <a:srcRect l="0" t="0" r="0" b="0"/>
          <a:stretch/>
        </p:blipFill>
        <p:spPr bwMode="auto">
          <a:xfrm>
            <a:off x="6534150" y="4280594"/>
            <a:ext cx="4286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2114784803" name="Google Shape;258;p20"/>
          <p:cNvSpPr txBox="1"/>
          <p:nvPr/>
        </p:nvSpPr>
        <p:spPr bwMode="auto">
          <a:xfrm>
            <a:off x="7105650" y="4357687"/>
            <a:ext cx="1220152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>
                <a:solidFill>
                  <a:srgbClr val="0F172A"/>
                </a:solidFill>
                <a:latin typeface="Outfit SemiBold"/>
                <a:ea typeface="Outfit SemiBold"/>
                <a:cs typeface="Outfit SemiBold"/>
              </a:rPr>
              <a:t>adjuster.py</a:t>
            </a:r>
            <a:endParaRPr/>
          </a:p>
        </p:txBody>
      </p:sp>
      <p:pic>
        <p:nvPicPr>
          <p:cNvPr id="1846539186" name="Google Shape;259;p20" descr="image.png"/>
          <p:cNvPicPr/>
          <p:nvPr/>
        </p:nvPicPr>
        <p:blipFill rotWithShape="1">
          <a:blip r:embed="rId9">
            <a:alphaModFix/>
          </a:blip>
          <a:srcRect l="0" t="0" r="0" b="0"/>
          <a:stretch/>
        </p:blipFill>
        <p:spPr bwMode="auto">
          <a:xfrm>
            <a:off x="981075" y="1866007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1689823" name="Google Shape;260;p20" descr="image.png"/>
          <p:cNvPicPr/>
          <p:nvPr/>
        </p:nvPicPr>
        <p:blipFill rotWithShape="1">
          <a:blip r:embed="rId10">
            <a:alphaModFix/>
          </a:blip>
          <a:srcRect l="0" t="0" r="0" b="0"/>
          <a:stretch/>
        </p:blipFill>
        <p:spPr bwMode="auto">
          <a:xfrm>
            <a:off x="6634162" y="1866007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8633639" name="Google Shape;261;p20" descr="image.png"/>
          <p:cNvPicPr/>
          <p:nvPr/>
        </p:nvPicPr>
        <p:blipFill rotWithShape="1">
          <a:blip r:embed="rId11">
            <a:alphaModFix/>
          </a:blip>
          <a:srcRect l="0" t="0" r="0" b="0"/>
          <a:stretch/>
        </p:blipFill>
        <p:spPr bwMode="auto">
          <a:xfrm>
            <a:off x="981075" y="4380607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7079807" name="Google Shape;262;p20" descr="image.png"/>
          <p:cNvPicPr/>
          <p:nvPr/>
        </p:nvPicPr>
        <p:blipFill rotWithShape="1">
          <a:blip r:embed="rId12">
            <a:alphaModFix/>
          </a:blip>
          <a:srcRect l="0" t="0" r="0" b="0"/>
          <a:stretch/>
        </p:blipFill>
        <p:spPr bwMode="auto">
          <a:xfrm>
            <a:off x="6634162" y="4380607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8944247" name="Google Shape;263;p20"/>
          <p:cNvSpPr txBox="1"/>
          <p:nvPr/>
        </p:nvSpPr>
        <p:spPr bwMode="auto">
          <a:xfrm>
            <a:off x="571500" y="453479"/>
            <a:ext cx="11601450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3300" b="0" i="0" u="none" strike="noStrike" cap="none">
                <a:solidFill>
                  <a:srgbClr val="0F172A"/>
                </a:solidFill>
                <a:latin typeface="Outfit SemiBold"/>
                <a:ea typeface="Outfit SemiBold"/>
                <a:cs typeface="Outfit SemiBold"/>
              </a:rPr>
              <a:t>Key Internal Modules</a:t>
            </a:r>
            <a:endParaRPr/>
          </a:p>
        </p:txBody>
      </p:sp>
      <p:sp>
        <p:nvSpPr>
          <p:cNvPr id="1849767996" name="Google Shape;264;p20"/>
          <p:cNvSpPr/>
          <p:nvPr/>
        </p:nvSpPr>
        <p:spPr bwMode="auto">
          <a:xfrm>
            <a:off x="571500" y="1070669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13914107" name="Google Shape;269;p21" descr="image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571500" y="1588740"/>
            <a:ext cx="3492549" cy="4697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3622359" name="Google Shape;270;p21" descr="image.png"/>
          <p:cNvPicPr/>
          <p:nvPr/>
        </p:nvPicPr>
        <p:blipFill rotWithShape="1">
          <a:blip r:embed="rId4">
            <a:alphaModFix/>
          </a:blip>
          <a:srcRect l="0" t="0" r="0" b="0"/>
          <a:stretch/>
        </p:blipFill>
        <p:spPr bwMode="auto">
          <a:xfrm>
            <a:off x="4349799" y="1588740"/>
            <a:ext cx="3492549" cy="4697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8732161" name="Google Shape;271;p21" descr="image.png"/>
          <p:cNvPicPr/>
          <p:nvPr/>
        </p:nvPicPr>
        <p:blipFill rotWithShape="1">
          <a:blip r:embed="rId5">
            <a:alphaModFix/>
          </a:blip>
          <a:srcRect l="0" t="0" r="0" b="0"/>
          <a:stretch/>
        </p:blipFill>
        <p:spPr bwMode="auto">
          <a:xfrm>
            <a:off x="8128099" y="1588740"/>
            <a:ext cx="3492549" cy="4697759"/>
          </a:xfrm>
          <a:prstGeom prst="rect">
            <a:avLst/>
          </a:prstGeom>
          <a:noFill/>
          <a:ln>
            <a:noFill/>
          </a:ln>
        </p:spPr>
      </p:pic>
      <p:sp>
        <p:nvSpPr>
          <p:cNvPr id="913432720" name="Google Shape;272;p21"/>
          <p:cNvSpPr txBox="1"/>
          <p:nvPr/>
        </p:nvSpPr>
        <p:spPr bwMode="auto">
          <a:xfrm>
            <a:off x="866775" y="1931640"/>
            <a:ext cx="3047099" cy="20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0" i="0" u="none" strike="noStrike" cap="none">
                <a:solidFill>
                  <a:srgbClr val="64748B"/>
                </a:solidFill>
                <a:latin typeface="Outfit SemiBold"/>
                <a:ea typeface="Outfit SemiBold"/>
                <a:cs typeface="Outfit SemiBold"/>
              </a:rPr>
              <a:t>LOCAL ENGINE</a:t>
            </a:r>
            <a:endParaRPr/>
          </a:p>
        </p:txBody>
      </p:sp>
      <p:sp>
        <p:nvSpPr>
          <p:cNvPr id="1321943883" name="Google Shape;273;p21"/>
          <p:cNvSpPr txBox="1"/>
          <p:nvPr/>
        </p:nvSpPr>
        <p:spPr bwMode="auto">
          <a:xfrm>
            <a:off x="4645074" y="1931640"/>
            <a:ext cx="3047099" cy="20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0" i="0" u="none" strike="noStrike" cap="none">
                <a:solidFill>
                  <a:srgbClr val="64748B"/>
                </a:solidFill>
                <a:latin typeface="Outfit SemiBold"/>
                <a:ea typeface="Outfit SemiBold"/>
                <a:cs typeface="Outfit SemiBold"/>
              </a:rPr>
              <a:t>REMOTE PROVIDER</a:t>
            </a:r>
            <a:endParaRPr/>
          </a:p>
        </p:txBody>
      </p:sp>
      <p:sp>
        <p:nvSpPr>
          <p:cNvPr id="218122557" name="Google Shape;274;p21"/>
          <p:cNvSpPr txBox="1"/>
          <p:nvPr/>
        </p:nvSpPr>
        <p:spPr bwMode="auto">
          <a:xfrm>
            <a:off x="8423374" y="1931640"/>
            <a:ext cx="3047099" cy="20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0" i="0" u="none" strike="noStrike" cap="none">
                <a:solidFill>
                  <a:srgbClr val="64748B"/>
                </a:solidFill>
                <a:latin typeface="Outfit SemiBold"/>
                <a:ea typeface="Outfit SemiBold"/>
                <a:cs typeface="Outfit SemiBold"/>
              </a:rPr>
              <a:t>AGENT &amp; CONTROLS</a:t>
            </a:r>
            <a:endParaRPr/>
          </a:p>
        </p:txBody>
      </p:sp>
      <p:sp>
        <p:nvSpPr>
          <p:cNvPr id="609966263" name="Google Shape;275;p21"/>
          <p:cNvSpPr txBox="1"/>
          <p:nvPr/>
        </p:nvSpPr>
        <p:spPr bwMode="auto">
          <a:xfrm>
            <a:off x="1171575" y="2442120"/>
            <a:ext cx="259719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Ollama Instance</a:t>
            </a:r>
            <a:endParaRPr/>
          </a:p>
        </p:txBody>
      </p:sp>
      <p:sp>
        <p:nvSpPr>
          <p:cNvPr id="1758484654" name="Google Shape;276;p21"/>
          <p:cNvSpPr txBox="1"/>
          <p:nvPr/>
        </p:nvSpPr>
        <p:spPr bwMode="auto">
          <a:xfrm>
            <a:off x="1171575" y="2899320"/>
            <a:ext cx="259719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Qwen 2.5 0.5B</a:t>
            </a:r>
            <a:endParaRPr/>
          </a:p>
        </p:txBody>
      </p:sp>
      <p:sp>
        <p:nvSpPr>
          <p:cNvPr id="1580933816" name="Google Shape;277;p21"/>
          <p:cNvSpPr txBox="1"/>
          <p:nvPr/>
        </p:nvSpPr>
        <p:spPr bwMode="auto">
          <a:xfrm>
            <a:off x="1171575" y="3356520"/>
            <a:ext cx="259719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Local Embeddings</a:t>
            </a:r>
            <a:endParaRPr/>
          </a:p>
        </p:txBody>
      </p:sp>
      <p:sp>
        <p:nvSpPr>
          <p:cNvPr id="1552681216" name="Google Shape;278;p21"/>
          <p:cNvSpPr txBox="1"/>
          <p:nvPr/>
        </p:nvSpPr>
        <p:spPr bwMode="auto">
          <a:xfrm>
            <a:off x="1171575" y="3813720"/>
            <a:ext cx="259719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Local Vector Cache</a:t>
            </a:r>
            <a:endParaRPr/>
          </a:p>
        </p:txBody>
      </p:sp>
      <p:sp>
        <p:nvSpPr>
          <p:cNvPr id="1131774834" name="Google Shape;279;p21"/>
          <p:cNvSpPr txBox="1"/>
          <p:nvPr/>
        </p:nvSpPr>
        <p:spPr bwMode="auto">
          <a:xfrm>
            <a:off x="1171575" y="4270920"/>
            <a:ext cx="259719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Zero token charges</a:t>
            </a:r>
            <a:endParaRPr/>
          </a:p>
        </p:txBody>
      </p:sp>
      <p:sp>
        <p:nvSpPr>
          <p:cNvPr id="2116678674" name="Google Shape;280;p21"/>
          <p:cNvSpPr txBox="1"/>
          <p:nvPr/>
        </p:nvSpPr>
        <p:spPr bwMode="auto">
          <a:xfrm>
            <a:off x="4949874" y="2442120"/>
            <a:ext cx="259719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Fireworks AI API</a:t>
            </a:r>
            <a:endParaRPr/>
          </a:p>
        </p:txBody>
      </p:sp>
      <p:sp>
        <p:nvSpPr>
          <p:cNvPr id="560800627" name="Google Shape;281;p21"/>
          <p:cNvSpPr txBox="1"/>
          <p:nvPr/>
        </p:nvSpPr>
        <p:spPr bwMode="auto">
          <a:xfrm>
            <a:off x="4949874" y="2899320"/>
            <a:ext cx="259719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Llama 3 70B Instruct</a:t>
            </a:r>
            <a:endParaRPr/>
          </a:p>
        </p:txBody>
      </p:sp>
      <p:sp>
        <p:nvSpPr>
          <p:cNvPr id="2073285948" name="Google Shape;282;p21"/>
          <p:cNvSpPr txBox="1"/>
          <p:nvPr/>
        </p:nvSpPr>
        <p:spPr bwMode="auto">
          <a:xfrm>
            <a:off x="4949874" y="3356520"/>
            <a:ext cx="259719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OpenAI GPT-4o</a:t>
            </a:r>
            <a:endParaRPr/>
          </a:p>
        </p:txBody>
      </p:sp>
      <p:sp>
        <p:nvSpPr>
          <p:cNvPr id="1142828013" name="Google Shape;283;p21"/>
          <p:cNvSpPr txBox="1"/>
          <p:nvPr/>
        </p:nvSpPr>
        <p:spPr bwMode="auto">
          <a:xfrm>
            <a:off x="4949874" y="3813720"/>
            <a:ext cx="259719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Google Gemini</a:t>
            </a:r>
            <a:endParaRPr/>
          </a:p>
        </p:txBody>
      </p:sp>
      <p:sp>
        <p:nvSpPr>
          <p:cNvPr id="299531548" name="Google Shape;284;p21"/>
          <p:cNvSpPr txBox="1"/>
          <p:nvPr/>
        </p:nvSpPr>
        <p:spPr bwMode="auto">
          <a:xfrm>
            <a:off x="4949874" y="4270920"/>
            <a:ext cx="259719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Groq Endpoints</a:t>
            </a:r>
            <a:endParaRPr/>
          </a:p>
        </p:txBody>
      </p:sp>
      <p:sp>
        <p:nvSpPr>
          <p:cNvPr id="1588667624" name="Google Shape;285;p21"/>
          <p:cNvSpPr txBox="1"/>
          <p:nvPr/>
        </p:nvSpPr>
        <p:spPr bwMode="auto">
          <a:xfrm>
            <a:off x="8728174" y="2442120"/>
            <a:ext cx="259719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FastAPI Interface</a:t>
            </a:r>
            <a:endParaRPr/>
          </a:p>
        </p:txBody>
      </p:sp>
      <p:sp>
        <p:nvSpPr>
          <p:cNvPr id="1970818044" name="Google Shape;286;p21"/>
          <p:cNvSpPr txBox="1"/>
          <p:nvPr/>
        </p:nvSpPr>
        <p:spPr bwMode="auto">
          <a:xfrm>
            <a:off x="8728174" y="2899320"/>
            <a:ext cx="259719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React / Vite Dashboard</a:t>
            </a:r>
            <a:endParaRPr/>
          </a:p>
        </p:txBody>
      </p:sp>
      <p:sp>
        <p:nvSpPr>
          <p:cNvPr id="1108402121" name="Google Shape;287;p21"/>
          <p:cNvSpPr txBox="1"/>
          <p:nvPr/>
        </p:nvSpPr>
        <p:spPr bwMode="auto">
          <a:xfrm>
            <a:off x="8728174" y="3356520"/>
            <a:ext cx="259719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Docker &amp; Compose</a:t>
            </a:r>
            <a:endParaRPr/>
          </a:p>
        </p:txBody>
      </p:sp>
      <p:sp>
        <p:nvSpPr>
          <p:cNvPr id="1818179439" name="Google Shape;288;p21"/>
          <p:cNvSpPr txBox="1"/>
          <p:nvPr/>
        </p:nvSpPr>
        <p:spPr bwMode="auto">
          <a:xfrm>
            <a:off x="8728174" y="3813720"/>
            <a:ext cx="259719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Grid Search Optimizer</a:t>
            </a:r>
            <a:endParaRPr/>
          </a:p>
        </p:txBody>
      </p:sp>
      <p:sp>
        <p:nvSpPr>
          <p:cNvPr id="581715836" name="Google Shape;289;p21"/>
          <p:cNvSpPr txBox="1"/>
          <p:nvPr/>
        </p:nvSpPr>
        <p:spPr bwMode="auto">
          <a:xfrm>
            <a:off x="8728174" y="4270920"/>
            <a:ext cx="259719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Structured Telemetry</a:t>
            </a:r>
            <a:endParaRPr/>
          </a:p>
        </p:txBody>
      </p:sp>
      <p:sp>
        <p:nvSpPr>
          <p:cNvPr id="327707788" name="Google Shape;290;p21"/>
          <p:cNvSpPr txBox="1"/>
          <p:nvPr/>
        </p:nvSpPr>
        <p:spPr bwMode="auto">
          <a:xfrm>
            <a:off x="571500" y="571500"/>
            <a:ext cx="11601450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3300" b="0" i="0" u="none" strike="noStrike" cap="none">
                <a:solidFill>
                  <a:srgbClr val="0F172A"/>
                </a:solidFill>
                <a:latin typeface="Outfit SemiBold"/>
                <a:ea typeface="Outfit SemiBold"/>
                <a:cs typeface="Outfit SemiBold"/>
              </a:rPr>
              <a:t>HMR Technology Stack</a:t>
            </a:r>
            <a:endParaRPr/>
          </a:p>
        </p:txBody>
      </p:sp>
      <p:sp>
        <p:nvSpPr>
          <p:cNvPr id="321836765" name="Google Shape;291;p21"/>
          <p:cNvSpPr/>
          <p:nvPr/>
        </p:nvSpPr>
        <p:spPr bwMode="auto">
          <a:xfrm>
            <a:off x="571500" y="118869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748909622" name="Google Shape;292;p21" descr="image.png"/>
          <p:cNvPicPr/>
          <p:nvPr/>
        </p:nvPicPr>
        <p:blipFill rotWithShape="1">
          <a:blip r:embed="rId6">
            <a:alphaModFix/>
          </a:blip>
          <a:srcRect l="0" t="0" r="0" b="0"/>
          <a:stretch/>
        </p:blipFill>
        <p:spPr bwMode="auto">
          <a:xfrm>
            <a:off x="866775" y="2451644"/>
            <a:ext cx="104775" cy="219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5984621" name="Google Shape;293;p21" descr="image.png"/>
          <p:cNvPicPr/>
          <p:nvPr/>
        </p:nvPicPr>
        <p:blipFill rotWithShape="1">
          <a:blip r:embed="rId6">
            <a:alphaModFix/>
          </a:blip>
          <a:srcRect l="0" t="0" r="0" b="0"/>
          <a:stretch/>
        </p:blipFill>
        <p:spPr bwMode="auto">
          <a:xfrm>
            <a:off x="866775" y="2908845"/>
            <a:ext cx="104775" cy="219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2441194" name="Google Shape;294;p21" descr="image.png"/>
          <p:cNvPicPr/>
          <p:nvPr/>
        </p:nvPicPr>
        <p:blipFill rotWithShape="1">
          <a:blip r:embed="rId6">
            <a:alphaModFix/>
          </a:blip>
          <a:srcRect l="0" t="0" r="0" b="0"/>
          <a:stretch/>
        </p:blipFill>
        <p:spPr bwMode="auto">
          <a:xfrm>
            <a:off x="866775" y="3366045"/>
            <a:ext cx="104775" cy="219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0429615" name="Google Shape;295;p21" descr="image.png"/>
          <p:cNvPicPr/>
          <p:nvPr/>
        </p:nvPicPr>
        <p:blipFill rotWithShape="1">
          <a:blip r:embed="rId6">
            <a:alphaModFix/>
          </a:blip>
          <a:srcRect l="0" t="0" r="0" b="0"/>
          <a:stretch/>
        </p:blipFill>
        <p:spPr bwMode="auto">
          <a:xfrm>
            <a:off x="866775" y="3823245"/>
            <a:ext cx="104775" cy="219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8429372" name="Google Shape;296;p21" descr="image.png"/>
          <p:cNvPicPr/>
          <p:nvPr/>
        </p:nvPicPr>
        <p:blipFill rotWithShape="1">
          <a:blip r:embed="rId6">
            <a:alphaModFix/>
          </a:blip>
          <a:srcRect l="0" t="0" r="0" b="0"/>
          <a:stretch/>
        </p:blipFill>
        <p:spPr bwMode="auto">
          <a:xfrm>
            <a:off x="866775" y="4280445"/>
            <a:ext cx="104775" cy="219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9816188" name="Google Shape;297;p21" descr="image.png"/>
          <p:cNvPicPr/>
          <p:nvPr/>
        </p:nvPicPr>
        <p:blipFill rotWithShape="1">
          <a:blip r:embed="rId6">
            <a:alphaModFix/>
          </a:blip>
          <a:srcRect l="0" t="0" r="0" b="0"/>
          <a:stretch/>
        </p:blipFill>
        <p:spPr bwMode="auto">
          <a:xfrm>
            <a:off x="4645074" y="2451644"/>
            <a:ext cx="104775" cy="219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2312379" name="Google Shape;298;p21" descr="image.png"/>
          <p:cNvPicPr/>
          <p:nvPr/>
        </p:nvPicPr>
        <p:blipFill rotWithShape="1">
          <a:blip r:embed="rId6">
            <a:alphaModFix/>
          </a:blip>
          <a:srcRect l="0" t="0" r="0" b="0"/>
          <a:stretch/>
        </p:blipFill>
        <p:spPr bwMode="auto">
          <a:xfrm>
            <a:off x="4645074" y="2908845"/>
            <a:ext cx="104775" cy="219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15716274" name="Google Shape;299;p21" descr="image.png"/>
          <p:cNvPicPr/>
          <p:nvPr/>
        </p:nvPicPr>
        <p:blipFill rotWithShape="1">
          <a:blip r:embed="rId6">
            <a:alphaModFix/>
          </a:blip>
          <a:srcRect l="0" t="0" r="0" b="0"/>
          <a:stretch/>
        </p:blipFill>
        <p:spPr bwMode="auto">
          <a:xfrm>
            <a:off x="4645074" y="3366045"/>
            <a:ext cx="104775" cy="219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52238355" name="Google Shape;300;p21" descr="image.png"/>
          <p:cNvPicPr/>
          <p:nvPr/>
        </p:nvPicPr>
        <p:blipFill rotWithShape="1">
          <a:blip r:embed="rId6">
            <a:alphaModFix/>
          </a:blip>
          <a:srcRect l="0" t="0" r="0" b="0"/>
          <a:stretch/>
        </p:blipFill>
        <p:spPr bwMode="auto">
          <a:xfrm>
            <a:off x="4645074" y="3823245"/>
            <a:ext cx="104775" cy="219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6301420" name="Google Shape;301;p21" descr="image.png"/>
          <p:cNvPicPr/>
          <p:nvPr/>
        </p:nvPicPr>
        <p:blipFill rotWithShape="1">
          <a:blip r:embed="rId6">
            <a:alphaModFix/>
          </a:blip>
          <a:srcRect l="0" t="0" r="0" b="0"/>
          <a:stretch/>
        </p:blipFill>
        <p:spPr bwMode="auto">
          <a:xfrm>
            <a:off x="4645074" y="4280445"/>
            <a:ext cx="104775" cy="219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7014886" name="Google Shape;302;p21" descr="image.png"/>
          <p:cNvPicPr/>
          <p:nvPr/>
        </p:nvPicPr>
        <p:blipFill rotWithShape="1">
          <a:blip r:embed="rId6">
            <a:alphaModFix/>
          </a:blip>
          <a:srcRect l="0" t="0" r="0" b="0"/>
          <a:stretch/>
        </p:blipFill>
        <p:spPr bwMode="auto">
          <a:xfrm>
            <a:off x="8423374" y="2451644"/>
            <a:ext cx="104775" cy="219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3437118" name="Google Shape;303;p21" descr="image.png"/>
          <p:cNvPicPr/>
          <p:nvPr/>
        </p:nvPicPr>
        <p:blipFill rotWithShape="1">
          <a:blip r:embed="rId6">
            <a:alphaModFix/>
          </a:blip>
          <a:srcRect l="0" t="0" r="0" b="0"/>
          <a:stretch/>
        </p:blipFill>
        <p:spPr bwMode="auto">
          <a:xfrm>
            <a:off x="8423374" y="2908845"/>
            <a:ext cx="104775" cy="219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260765" name="Google Shape;304;p21" descr="image.png"/>
          <p:cNvPicPr/>
          <p:nvPr/>
        </p:nvPicPr>
        <p:blipFill rotWithShape="1">
          <a:blip r:embed="rId6">
            <a:alphaModFix/>
          </a:blip>
          <a:srcRect l="0" t="0" r="0" b="0"/>
          <a:stretch/>
        </p:blipFill>
        <p:spPr bwMode="auto">
          <a:xfrm>
            <a:off x="8423374" y="3366045"/>
            <a:ext cx="104775" cy="219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9534280" name="Google Shape;305;p21" descr="image.png"/>
          <p:cNvPicPr/>
          <p:nvPr/>
        </p:nvPicPr>
        <p:blipFill rotWithShape="1">
          <a:blip r:embed="rId6">
            <a:alphaModFix/>
          </a:blip>
          <a:srcRect l="0" t="0" r="0" b="0"/>
          <a:stretch/>
        </p:blipFill>
        <p:spPr bwMode="auto">
          <a:xfrm>
            <a:off x="8423374" y="3823245"/>
            <a:ext cx="104775" cy="219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744293" name="Google Shape;306;p21" descr="image.png"/>
          <p:cNvPicPr/>
          <p:nvPr/>
        </p:nvPicPr>
        <p:blipFill rotWithShape="1">
          <a:blip r:embed="rId6">
            <a:alphaModFix/>
          </a:blip>
          <a:srcRect l="0" t="0" r="0" b="0"/>
          <a:stretch/>
        </p:blipFill>
        <p:spPr bwMode="auto">
          <a:xfrm>
            <a:off x="8423374" y="4280445"/>
            <a:ext cx="104775" cy="219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9303489" name="Google Shape;311;p22" descr="image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571500" y="1470719"/>
            <a:ext cx="5381625" cy="222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2385512" name="Google Shape;312;p22" descr="image.png"/>
          <p:cNvPicPr/>
          <p:nvPr/>
        </p:nvPicPr>
        <p:blipFill rotWithShape="1">
          <a:blip r:embed="rId4">
            <a:alphaModFix/>
          </a:blip>
          <a:srcRect l="0" t="0" r="0" b="0"/>
          <a:stretch/>
        </p:blipFill>
        <p:spPr bwMode="auto">
          <a:xfrm>
            <a:off x="6238875" y="1470719"/>
            <a:ext cx="5381625" cy="222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84106" name="Google Shape;313;p22" descr="image.png"/>
          <p:cNvPicPr/>
          <p:nvPr/>
        </p:nvPicPr>
        <p:blipFill rotWithShape="1">
          <a:blip r:embed="rId5">
            <a:alphaModFix/>
          </a:blip>
          <a:srcRect l="0" t="0" r="0" b="0"/>
          <a:stretch/>
        </p:blipFill>
        <p:spPr bwMode="auto">
          <a:xfrm>
            <a:off x="571500" y="3985319"/>
            <a:ext cx="5381625" cy="222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1008127" name="Google Shape;314;p22" descr="image.png"/>
          <p:cNvPicPr/>
          <p:nvPr/>
        </p:nvPicPr>
        <p:blipFill rotWithShape="1">
          <a:blip r:embed="rId4">
            <a:alphaModFix/>
          </a:blip>
          <a:srcRect l="0" t="0" r="0" b="0"/>
          <a:stretch/>
        </p:blipFill>
        <p:spPr bwMode="auto">
          <a:xfrm>
            <a:off x="6238875" y="3985319"/>
            <a:ext cx="5381625" cy="2228850"/>
          </a:xfrm>
          <a:prstGeom prst="rect">
            <a:avLst/>
          </a:prstGeom>
          <a:noFill/>
          <a:ln>
            <a:noFill/>
          </a:ln>
        </p:spPr>
      </p:pic>
      <p:sp>
        <p:nvSpPr>
          <p:cNvPr id="1849811998" name="Google Shape;315;p22"/>
          <p:cNvSpPr txBox="1"/>
          <p:nvPr/>
        </p:nvSpPr>
        <p:spPr bwMode="auto">
          <a:xfrm>
            <a:off x="866775" y="2337494"/>
            <a:ext cx="47910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Avoids uncalibrated self-confidence. Uses code compilation, logprob token entropy, and cosine similarity over alternative outputs.</a:t>
            </a:r>
            <a:endParaRPr/>
          </a:p>
        </p:txBody>
      </p:sp>
      <p:sp>
        <p:nvSpPr>
          <p:cNvPr id="625776608" name="Google Shape;316;p22"/>
          <p:cNvSpPr txBox="1"/>
          <p:nvPr/>
        </p:nvSpPr>
        <p:spPr bwMode="auto">
          <a:xfrm>
            <a:off x="6534150" y="2337494"/>
            <a:ext cx="47910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Generates alternative responses at temperature=0.7 and checks semantic convergence using local vector embeddings.</a:t>
            </a:r>
            <a:endParaRPr/>
          </a:p>
        </p:txBody>
      </p:sp>
      <p:sp>
        <p:nvSpPr>
          <p:cNvPr id="1125281638" name="Google Shape;317;p22"/>
          <p:cNvSpPr txBox="1"/>
          <p:nvPr/>
        </p:nvSpPr>
        <p:spPr bwMode="auto">
          <a:xfrm>
            <a:off x="866775" y="4852094"/>
            <a:ext cx="47910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Monitors actual-to-target token burn ratios. Tightens/relaxes thresholds to guarantee staying above accuracy floor.</a:t>
            </a:r>
            <a:endParaRPr/>
          </a:p>
        </p:txBody>
      </p:sp>
      <p:sp>
        <p:nvSpPr>
          <p:cNvPr id="1671145265" name="Google Shape;318;p22"/>
          <p:cNvSpPr txBox="1"/>
          <p:nvPr/>
        </p:nvSpPr>
        <p:spPr bwMode="auto">
          <a:xfrm>
            <a:off x="6534150" y="4852094"/>
            <a:ext cx="47910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Prevents wasting local tokens. Detects complex domain keywords (integral, calculus, concurrency) to route directly to remote.</a:t>
            </a:r>
            <a:endParaRPr/>
          </a:p>
        </p:txBody>
      </p:sp>
      <p:pic>
        <p:nvPicPr>
          <p:cNvPr id="1965697515" name="Google Shape;319;p22" descr="image.png"/>
          <p:cNvPicPr/>
          <p:nvPr/>
        </p:nvPicPr>
        <p:blipFill rotWithShape="1">
          <a:blip r:embed="rId6">
            <a:alphaModFix/>
          </a:blip>
          <a:srcRect l="0" t="0" r="0" b="0"/>
          <a:stretch/>
        </p:blipFill>
        <p:spPr bwMode="auto">
          <a:xfrm>
            <a:off x="866775" y="1765994"/>
            <a:ext cx="4286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2135567031" name="Google Shape;320;p22"/>
          <p:cNvSpPr txBox="1"/>
          <p:nvPr/>
        </p:nvSpPr>
        <p:spPr bwMode="auto">
          <a:xfrm>
            <a:off x="1438275" y="1843087"/>
            <a:ext cx="2540317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>
                <a:solidFill>
                  <a:srgbClr val="0F172A"/>
                </a:solidFill>
                <a:latin typeface="Outfit SemiBold"/>
                <a:ea typeface="Outfit SemiBold"/>
                <a:cs typeface="Outfit SemiBold"/>
              </a:rPr>
              <a:t>Statistical Trust Signals</a:t>
            </a:r>
            <a:endParaRPr/>
          </a:p>
        </p:txBody>
      </p:sp>
      <p:pic>
        <p:nvPicPr>
          <p:cNvPr id="1592007140" name="Google Shape;321;p22" descr="image.png"/>
          <p:cNvPicPr/>
          <p:nvPr/>
        </p:nvPicPr>
        <p:blipFill rotWithShape="1">
          <a:blip r:embed="rId7">
            <a:alphaModFix/>
          </a:blip>
          <a:srcRect l="0" t="0" r="0" b="0"/>
          <a:stretch/>
        </p:blipFill>
        <p:spPr bwMode="auto">
          <a:xfrm>
            <a:off x="6534150" y="1765994"/>
            <a:ext cx="4286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03131728" name="Google Shape;322;p22"/>
          <p:cNvSpPr txBox="1"/>
          <p:nvPr/>
        </p:nvSpPr>
        <p:spPr bwMode="auto">
          <a:xfrm>
            <a:off x="7105650" y="1843087"/>
            <a:ext cx="312039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>
                <a:solidFill>
                  <a:srgbClr val="0F172A"/>
                </a:solidFill>
                <a:latin typeface="Outfit SemiBold"/>
                <a:ea typeface="Outfit SemiBold"/>
                <a:cs typeface="Outfit SemiBold"/>
              </a:rPr>
              <a:t>Embedding Self-Consistency</a:t>
            </a:r>
            <a:endParaRPr/>
          </a:p>
        </p:txBody>
      </p:sp>
      <p:pic>
        <p:nvPicPr>
          <p:cNvPr id="1260893138" name="Google Shape;323;p22" descr="image.png"/>
          <p:cNvPicPr/>
          <p:nvPr/>
        </p:nvPicPr>
        <p:blipFill rotWithShape="1">
          <a:blip r:embed="rId8">
            <a:alphaModFix/>
          </a:blip>
          <a:srcRect l="0" t="0" r="0" b="0"/>
          <a:stretch/>
        </p:blipFill>
        <p:spPr bwMode="auto">
          <a:xfrm>
            <a:off x="866775" y="4280594"/>
            <a:ext cx="4286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558279474" name="Google Shape;324;p22"/>
          <p:cNvSpPr txBox="1"/>
          <p:nvPr/>
        </p:nvSpPr>
        <p:spPr bwMode="auto">
          <a:xfrm>
            <a:off x="1438275" y="4357687"/>
            <a:ext cx="2940367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>
                <a:solidFill>
                  <a:srgbClr val="0F172A"/>
                </a:solidFill>
                <a:latin typeface="Outfit SemiBold"/>
                <a:ea typeface="Outfit SemiBold"/>
                <a:cs typeface="Outfit SemiBold"/>
              </a:rPr>
              <a:t>Dynamic Budget Telemetry</a:t>
            </a:r>
            <a:endParaRPr/>
          </a:p>
        </p:txBody>
      </p:sp>
      <p:pic>
        <p:nvPicPr>
          <p:cNvPr id="1473400278" name="Google Shape;325;p22" descr="image.png"/>
          <p:cNvPicPr/>
          <p:nvPr/>
        </p:nvPicPr>
        <p:blipFill rotWithShape="1">
          <a:blip r:embed="rId7">
            <a:alphaModFix/>
          </a:blip>
          <a:srcRect l="0" t="0" r="0" b="0"/>
          <a:stretch/>
        </p:blipFill>
        <p:spPr bwMode="auto">
          <a:xfrm>
            <a:off x="6534150" y="4280594"/>
            <a:ext cx="4286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40522533" name="Google Shape;326;p22"/>
          <p:cNvSpPr txBox="1"/>
          <p:nvPr/>
        </p:nvSpPr>
        <p:spPr bwMode="auto">
          <a:xfrm>
            <a:off x="7105650" y="4357687"/>
            <a:ext cx="256032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>
                <a:solidFill>
                  <a:srgbClr val="0F172A"/>
                </a:solidFill>
                <a:latin typeface="Outfit SemiBold"/>
                <a:ea typeface="Outfit SemiBold"/>
                <a:cs typeface="Outfit SemiBold"/>
              </a:rPr>
              <a:t>Routing Gate Heuristics</a:t>
            </a:r>
            <a:endParaRPr/>
          </a:p>
        </p:txBody>
      </p:sp>
      <p:pic>
        <p:nvPicPr>
          <p:cNvPr id="794382983" name="Google Shape;327;p22" descr="image.png"/>
          <p:cNvPicPr/>
          <p:nvPr/>
        </p:nvPicPr>
        <p:blipFill rotWithShape="1">
          <a:blip r:embed="rId9">
            <a:alphaModFix/>
          </a:blip>
          <a:srcRect l="0" t="0" r="0" b="0"/>
          <a:stretch/>
        </p:blipFill>
        <p:spPr bwMode="auto">
          <a:xfrm>
            <a:off x="966787" y="1866007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636100" name="Google Shape;328;p22" descr="image.png"/>
          <p:cNvPicPr/>
          <p:nvPr/>
        </p:nvPicPr>
        <p:blipFill rotWithShape="1">
          <a:blip r:embed="rId10">
            <a:alphaModFix/>
          </a:blip>
          <a:srcRect l="0" t="0" r="0" b="0"/>
          <a:stretch/>
        </p:blipFill>
        <p:spPr bwMode="auto">
          <a:xfrm>
            <a:off x="6619875" y="1866007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8665005" name="Google Shape;329;p22" descr="image.png"/>
          <p:cNvPicPr/>
          <p:nvPr/>
        </p:nvPicPr>
        <p:blipFill rotWithShape="1">
          <a:blip r:embed="rId11">
            <a:alphaModFix/>
          </a:blip>
          <a:srcRect l="0" t="0" r="0" b="0"/>
          <a:stretch/>
        </p:blipFill>
        <p:spPr bwMode="auto">
          <a:xfrm>
            <a:off x="966787" y="4380607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9953580" name="Google Shape;330;p22" descr="image.png"/>
          <p:cNvPicPr/>
          <p:nvPr/>
        </p:nvPicPr>
        <p:blipFill rotWithShape="1">
          <a:blip r:embed="rId12">
            <a:alphaModFix/>
          </a:blip>
          <a:srcRect l="0" t="0" r="0" b="0"/>
          <a:stretch/>
        </p:blipFill>
        <p:spPr bwMode="auto">
          <a:xfrm>
            <a:off x="6634162" y="4380607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815102301" name="Google Shape;331;p22"/>
          <p:cNvSpPr txBox="1"/>
          <p:nvPr/>
        </p:nvSpPr>
        <p:spPr bwMode="auto">
          <a:xfrm>
            <a:off x="571500" y="453479"/>
            <a:ext cx="11601450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3300" b="0" i="0" u="none" strike="noStrike" cap="none">
                <a:solidFill>
                  <a:srgbClr val="0F172A"/>
                </a:solidFill>
                <a:latin typeface="Outfit SemiBold"/>
                <a:ea typeface="Outfit SemiBold"/>
                <a:cs typeface="Outfit SemiBold"/>
              </a:rPr>
              <a:t>Key Innovations</a:t>
            </a:r>
            <a:endParaRPr/>
          </a:p>
        </p:txBody>
      </p:sp>
      <p:sp>
        <p:nvSpPr>
          <p:cNvPr id="1302686301" name="Google Shape;332;p22"/>
          <p:cNvSpPr/>
          <p:nvPr/>
        </p:nvSpPr>
        <p:spPr bwMode="auto">
          <a:xfrm>
            <a:off x="571500" y="1070669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3017970" name="Google Shape;337;p23"/>
          <p:cNvSpPr txBox="1"/>
          <p:nvPr/>
        </p:nvSpPr>
        <p:spPr bwMode="auto">
          <a:xfrm>
            <a:off x="571500" y="571500"/>
            <a:ext cx="5500687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3300" b="0" i="0" u="none" strike="noStrike" cap="none">
                <a:solidFill>
                  <a:srgbClr val="0F172A"/>
                </a:solidFill>
                <a:latin typeface="Outfit SemiBold"/>
                <a:ea typeface="Outfit SemiBold"/>
                <a:cs typeface="Outfit SemiBold"/>
              </a:rPr>
              <a:t>Future Scope</a:t>
            </a:r>
            <a:endParaRPr/>
          </a:p>
        </p:txBody>
      </p:sp>
      <p:sp>
        <p:nvSpPr>
          <p:cNvPr id="60950325" name="Google Shape;338;p23"/>
          <p:cNvSpPr/>
          <p:nvPr/>
        </p:nvSpPr>
        <p:spPr bwMode="auto">
          <a:xfrm>
            <a:off x="571500" y="1188690"/>
            <a:ext cx="52387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009751883" name="Google Shape;339;p23" descr="image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6381750" y="0"/>
            <a:ext cx="58102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9688918" name="Google Shape;340;p23"/>
          <p:cNvSpPr txBox="1"/>
          <p:nvPr/>
        </p:nvSpPr>
        <p:spPr bwMode="auto">
          <a:xfrm>
            <a:off x="609600" y="2025104"/>
            <a:ext cx="5260657" cy="20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0" i="0" u="none" strike="noStrike" cap="none">
                <a:solidFill>
                  <a:srgbClr val="0F172A"/>
                </a:solidFill>
                <a:latin typeface="Outfit SemiBold"/>
                <a:ea typeface="Outfit SemiBold"/>
                <a:cs typeface="Outfit SemiBold"/>
              </a:rPr>
              <a:t>1. REINFORCEMENT LEARNING</a:t>
            </a:r>
            <a:endParaRPr/>
          </a:p>
        </p:txBody>
      </p:sp>
      <p:sp>
        <p:nvSpPr>
          <p:cNvPr id="582304987" name="Google Shape;341;p23"/>
          <p:cNvSpPr txBox="1"/>
          <p:nvPr/>
        </p:nvSpPr>
        <p:spPr bwMode="auto">
          <a:xfrm>
            <a:off x="609600" y="2306984"/>
            <a:ext cx="5010149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Train a lightweight multi-armed bandit to continuously learn optimal routing coefficients.</a:t>
            </a:r>
            <a:endParaRPr/>
          </a:p>
        </p:txBody>
      </p:sp>
      <p:sp>
        <p:nvSpPr>
          <p:cNvPr id="1571178736" name="Google Shape;342;p23"/>
          <p:cNvSpPr txBox="1"/>
          <p:nvPr/>
        </p:nvSpPr>
        <p:spPr bwMode="auto">
          <a:xfrm>
            <a:off x="609600" y="3427065"/>
            <a:ext cx="5260657" cy="20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0" i="0" u="none" strike="noStrike" cap="none">
                <a:solidFill>
                  <a:srgbClr val="0F172A"/>
                </a:solidFill>
                <a:latin typeface="Outfit SemiBold"/>
                <a:ea typeface="Outfit SemiBold"/>
                <a:cs typeface="Outfit SemiBold"/>
              </a:rPr>
              <a:t>2. PARALLEL CONSISTENCY SAMPLING</a:t>
            </a:r>
            <a:endParaRPr/>
          </a:p>
        </p:txBody>
      </p:sp>
      <p:sp>
        <p:nvSpPr>
          <p:cNvPr id="1784920157" name="Google Shape;343;p23"/>
          <p:cNvSpPr txBox="1"/>
          <p:nvPr/>
        </p:nvSpPr>
        <p:spPr bwMode="auto">
          <a:xfrm>
            <a:off x="609600" y="3708945"/>
            <a:ext cx="5010149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Speed up local model execution by evaluating consistency queries in parallel batches.</a:t>
            </a:r>
            <a:endParaRPr/>
          </a:p>
        </p:txBody>
      </p:sp>
      <p:sp>
        <p:nvSpPr>
          <p:cNvPr id="1178982157" name="Google Shape;344;p23"/>
          <p:cNvSpPr txBox="1"/>
          <p:nvPr/>
        </p:nvSpPr>
        <p:spPr bwMode="auto">
          <a:xfrm>
            <a:off x="609600" y="4829026"/>
            <a:ext cx="5260657" cy="20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0" i="0" u="none" strike="noStrike" cap="none">
                <a:solidFill>
                  <a:srgbClr val="0F172A"/>
                </a:solidFill>
                <a:latin typeface="Outfit SemiBold"/>
                <a:ea typeface="Outfit SemiBold"/>
                <a:cs typeface="Outfit SemiBold"/>
              </a:rPr>
              <a:t>3. MULTI-MODEL QUANTIZATION</a:t>
            </a:r>
            <a:endParaRPr/>
          </a:p>
        </p:txBody>
      </p:sp>
      <p:sp>
        <p:nvSpPr>
          <p:cNvPr id="1783406232" name="Google Shape;345;p23"/>
          <p:cNvSpPr txBox="1"/>
          <p:nvPr/>
        </p:nvSpPr>
        <p:spPr bwMode="auto">
          <a:xfrm>
            <a:off x="609600" y="5110906"/>
            <a:ext cx="5010149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Calibrate custom Quantized profiles (GGUF/AWQ) on device to maximize local reasoning accuracy.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2045958" name="Google Shape;350;p24"/>
          <p:cNvSpPr txBox="1"/>
          <p:nvPr/>
        </p:nvSpPr>
        <p:spPr bwMode="auto">
          <a:xfrm>
            <a:off x="295274" y="2334517"/>
            <a:ext cx="116014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6000" b="0" i="0" u="none" strike="noStrike" cap="none">
                <a:solidFill>
                  <a:srgbClr val="0F172A"/>
                </a:solidFill>
                <a:latin typeface="Outfit SemiBold"/>
                <a:ea typeface="Outfit SemiBold"/>
                <a:cs typeface="Outfit SemiBold"/>
              </a:rPr>
              <a:t>Thank You!</a:t>
            </a:r>
            <a:endParaRPr/>
          </a:p>
        </p:txBody>
      </p:sp>
      <p:sp>
        <p:nvSpPr>
          <p:cNvPr id="2050134327" name="Google Shape;351;p24"/>
          <p:cNvSpPr txBox="1"/>
          <p:nvPr/>
        </p:nvSpPr>
        <p:spPr bwMode="auto">
          <a:xfrm>
            <a:off x="571500" y="3439417"/>
            <a:ext cx="11049000" cy="42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1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Deployable LLM Routing Agent for Hackathons</a:t>
            </a:r>
            <a:endParaRPr/>
          </a:p>
        </p:txBody>
      </p:sp>
      <p:sp>
        <p:nvSpPr>
          <p:cNvPr id="74896213" name="Google Shape;352;p24"/>
          <p:cNvSpPr txBox="1"/>
          <p:nvPr/>
        </p:nvSpPr>
        <p:spPr bwMode="auto">
          <a:xfrm>
            <a:off x="571500" y="4247108"/>
            <a:ext cx="11049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4325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>
                <a:solidFill>
                  <a:srgbClr val="64748B"/>
                </a:solidFill>
                <a:latin typeface="Inter SemiBold"/>
                <a:ea typeface="Inter SemiBold"/>
                <a:cs typeface="Inter SemiBold"/>
              </a:rPr>
              <a:t> github.com/cin-and-cout/hybrid-model-router</a:t>
            </a:r>
            <a:endParaRPr/>
          </a:p>
        </p:txBody>
      </p:sp>
      <p:pic>
        <p:nvPicPr>
          <p:cNvPr id="2111950248" name="Google Shape;353;p24" descr="image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3319462" y="4266158"/>
            <a:ext cx="219074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ONLYOFFICE/9.1.0.173</Application>
  <PresentationFormat>On-screen Show (4:3)</PresentationFormat>
  <Paragraphs>0</Paragraphs>
  <Slides>12</Slides>
  <Notes>12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</cp:coreProperties>
</file>
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95247" y="685800"/>
            <a:ext cx="9601200" cy="5486400"/>
          </a:xfrm>
          <a:prstGeom prst="roundRect">
            <a:avLst/>
          </a:prstGeom>
          <a:solidFill>
            <a:srgbClr val="EFF6FF"/>
          </a:solidFill>
          <a:ln w="571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81047" y="1783080"/>
            <a:ext cx="8229600" cy="64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40" b="1">
                <a:solidFill>
                  <a:srgbClr val="0F172A"/>
                </a:solidFill>
                <a:latin typeface="Arial"/>
              </a:defRPr>
            </a:pPr>
            <a:r>
              <a:t>HYBRID MODEL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047" y="2743200"/>
            <a:ext cx="8229600" cy="392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80" b="0">
                <a:solidFill>
                  <a:srgbClr val="475569"/>
                </a:solidFill>
                <a:latin typeface="Arial"/>
              </a:defRPr>
            </a:pPr>
            <a:r>
              <a:t>Maximizing LLM Accuracy While Minimizing Cost &amp; Latency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8447" y="3977639"/>
            <a:ext cx="4114800" cy="685800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20" b="1">
                <a:solidFill>
                  <a:srgbClr val="F8FAFC"/>
                </a:solidFill>
                <a:latin typeface="Arial"/>
              </a:defRPr>
            </a:pPr>
            <a:r>
              <a:t>HACKATHON SHOWCASE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047" y="734377"/>
            <a:ext cx="10515600" cy="47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20" b="1">
                <a:solidFill>
                  <a:srgbClr val="0F172A"/>
                </a:solidFill>
                <a:latin typeface="Arial"/>
              </a:defRPr>
            </a:pPr>
            <a:r>
              <a:t>The LLM Scaling Problem: Accuracy vs. Cost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1654492"/>
            <a:ext cx="4600575" cy="315468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937" y="1917382"/>
            <a:ext cx="4074795" cy="341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F172A"/>
                </a:solidFill>
                <a:latin typeface="Arial"/>
              </a:defRPr>
            </a:pPr>
            <a:r>
              <a:t>Local Tier (e.g., Qwen 0.5B)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937" y="2574607"/>
            <a:ext cx="4074795" cy="273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40" b="0">
                <a:solidFill>
                  <a:srgbClr val="0F172A"/>
                </a:solidFill>
                <a:latin typeface="Arial"/>
              </a:defRPr>
            </a:pPr>
            <a:r>
              <a:t>✔ 100% Free &amp; Fast (Ollama)</a:t>
            </a:r>
          </a:p>
          <a:p>
            <a:r>
              <a:t>✔ Running locally on device</a:t>
            </a:r>
          </a:p>
          <a:p>
            <a:r>
              <a:t>❌ Poor self-calibration</a:t>
            </a:r>
          </a:p>
          <a:p>
            <a:r>
              <a:t>❌ Hallucinations on hard tasks</a:t>
            </a:r>
          </a:p>
          <a:p>
            <a:r>
              <a:t>❌ Fails complex structures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53072" y="1654492"/>
            <a:ext cx="4600575" cy="3154680"/>
          </a:xfrm>
          <a:prstGeom prst="roundRect">
            <a:avLst/>
          </a:prstGeom>
          <a:solidFill>
            <a:srgbClr val="FFF1F2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5962" y="1917382"/>
            <a:ext cx="4074795" cy="341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F172A"/>
                </a:solidFill>
                <a:latin typeface="Arial"/>
              </a:defRPr>
            </a:pPr>
            <a:r>
              <a:t>Remote Tier (e.g., Llama 70B)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5962" y="2574607"/>
            <a:ext cx="4074795" cy="273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40" b="0">
                <a:solidFill>
                  <a:srgbClr val="0F172A"/>
                </a:solidFill>
                <a:latin typeface="Arial"/>
              </a:defRPr>
            </a:pPr>
            <a:r>
              <a:t>✔ Exceptional Accuracy</a:t>
            </a:r>
          </a:p>
          <a:p>
            <a:r>
              <a:t>✔ Handles coding &amp; math</a:t>
            </a:r>
          </a:p>
          <a:p>
            <a:r>
              <a:t>❌ High API token cost</a:t>
            </a:r>
          </a:p>
          <a:p>
            <a:r>
              <a:t>❌ Depletes hackathon budget</a:t>
            </a:r>
          </a:p>
          <a:p>
            <a:r>
              <a:t>❌ Subject to network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047" y="5203507"/>
            <a:ext cx="10515600" cy="920115"/>
          </a:xfrm>
          <a:prstGeom prst="roundRect">
            <a:avLst/>
          </a:prstGeom>
          <a:solidFill>
            <a:srgbClr val="FFF7ED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40" b="1">
                <a:solidFill>
                  <a:srgbClr val="0F172A"/>
                </a:solidFill>
                <a:latin typeface="Arial"/>
              </a:defRPr>
            </a:pPr>
            <a:r>
              <a:t>CRITICAL FAILURE MODE: Stated LLM confidence is NOT calibrated.</a:t>
            </a:r>
          </a:p>
          <a:p>
            <a:r>
              <a:t>We cannot trust a local model's self-reported confidence to decide when to escalate.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047" y="997267"/>
            <a:ext cx="10515600" cy="47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20" b="1">
                <a:solidFill>
                  <a:srgbClr val="0F172A"/>
                </a:solidFill>
                <a:latin typeface="Arial"/>
              </a:defRPr>
            </a:pPr>
            <a:r>
              <a:t>Current Static Approach vs. Proposed HMR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1917382"/>
            <a:ext cx="4732020" cy="3943350"/>
          </a:xfrm>
          <a:prstGeom prst="roundRect">
            <a:avLst/>
          </a:prstGeom>
          <a:solidFill>
            <a:srgbClr val="E2E8F0"/>
          </a:solidFill>
          <a:ln w="381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937" y="2180272"/>
            <a:ext cx="4206240" cy="341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F172A"/>
                </a:solidFill>
                <a:latin typeface="Arial"/>
              </a:defRPr>
            </a:pPr>
            <a:r>
              <a:t>Static Routing (Conventional)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937" y="2903220"/>
            <a:ext cx="4206240" cy="273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40" b="0">
                <a:solidFill>
                  <a:srgbClr val="0F172A"/>
                </a:solidFill>
                <a:latin typeface="Arial"/>
              </a:defRPr>
            </a:pPr>
            <a:r>
              <a:t>• All prompts go to Remote</a:t>
            </a:r>
          </a:p>
          <a:p>
            <a:r>
              <a:t>  → High cost, wasted budget</a:t>
            </a:r>
          </a:p>
          <a:p>
            <a:r>
              <a:t>• Or all prompts go to Local</a:t>
            </a:r>
          </a:p>
          <a:p>
            <a:r>
              <a:t>  → Low accuracy, fails tests</a:t>
            </a:r>
          </a:p>
          <a:p>
            <a:r>
              <a:t>• No validation of outputs</a:t>
            </a:r>
          </a:p>
          <a:p>
            <a:r>
              <a:t>• Rigid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1627" y="1917382"/>
            <a:ext cx="4732020" cy="394335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4517" y="2180272"/>
            <a:ext cx="4206240" cy="341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F172A"/>
                </a:solidFill>
                <a:latin typeface="Arial"/>
              </a:defRPr>
            </a:pPr>
            <a:r>
              <a:t>Hybrid Model Router (HMR)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4517" y="2903220"/>
            <a:ext cx="4206240" cy="273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40" b="0">
                <a:solidFill>
                  <a:srgbClr val="0F172A"/>
                </a:solidFill>
                <a:latin typeface="Arial"/>
              </a:defRPr>
            </a:pPr>
            <a:r>
              <a:t>• Semantic Cache for 0-token hits</a:t>
            </a:r>
          </a:p>
          <a:p>
            <a:r>
              <a:t>• Predictive Gate to bypass local</a:t>
            </a:r>
          </a:p>
          <a:p>
            <a:r>
              <a:t>• Cascade Execution (Local first)</a:t>
            </a:r>
          </a:p>
          <a:p>
            <a:r>
              <a:t>• Multi-Signal Trust Evaluator</a:t>
            </a:r>
          </a:p>
          <a:p>
            <a:r>
              <a:t>• Dynamic Budget Adjuster</a:t>
            </a:r>
          </a:p>
          <a:p>
            <a:r>
              <a:t>• Automatic fallback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2392" y="1978572"/>
            <a:ext cx="9669517" cy="439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20" b="1">
                <a:solidFill>
                  <a:srgbClr val="0F172A"/>
                </a:solidFill>
                <a:latin typeface="Arial"/>
              </a:defRPr>
            </a:pPr>
            <a:r>
              <a:t>System Overview: Dynamic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3549868"/>
            <a:ext cx="1813034" cy="966951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User Prompt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51082" y="4033344"/>
            <a:ext cx="725213" cy="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376295" y="3187262"/>
            <a:ext cx="2175641" cy="1692165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97164" y="3429000"/>
            <a:ext cx="1933903" cy="282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1. Optimizers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97164" y="3912475"/>
            <a:ext cx="1933903" cy="219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60" b="0">
                <a:solidFill>
                  <a:srgbClr val="0F172A"/>
                </a:solidFill>
                <a:latin typeface="Arial"/>
              </a:defRPr>
            </a:pPr>
            <a:r>
              <a:t>• Semantic Cache</a:t>
            </a:r>
          </a:p>
          <a:p>
            <a:r>
              <a:t>• Predictive Gate</a:t>
            </a:r>
          </a:p>
          <a:p>
            <a:r>
              <a:t>• Parameter Sweep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51937" y="4033344"/>
            <a:ext cx="725214" cy="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77151" y="3187262"/>
            <a:ext cx="2175641" cy="1692165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8020" y="3429000"/>
            <a:ext cx="1933903" cy="282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2. Evaluators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8020" y="3912475"/>
            <a:ext cx="1933903" cy="219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60" b="0">
                <a:solidFill>
                  <a:srgbClr val="0F172A"/>
                </a:solidFill>
                <a:latin typeface="Arial"/>
              </a:defRPr>
            </a:pPr>
            <a:r>
              <a:t>• Syntax Compiler</a:t>
            </a:r>
          </a:p>
          <a:p>
            <a:r>
              <a:t>• Token Entropy</a:t>
            </a:r>
          </a:p>
          <a:p>
            <a:r>
              <a:t>• Embedding Self-Consistency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52792" y="4033344"/>
            <a:ext cx="725214" cy="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78006" y="3187262"/>
            <a:ext cx="2175641" cy="1692165"/>
          </a:xfrm>
          <a:prstGeom prst="roundRect">
            <a:avLst/>
          </a:prstGeom>
          <a:solidFill>
            <a:srgbClr val="FFF7ED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8875" y="3429000"/>
            <a:ext cx="1933903" cy="282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3. Adjusters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8875" y="3912475"/>
            <a:ext cx="1933903" cy="219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60" b="0">
                <a:solidFill>
                  <a:srgbClr val="0F172A"/>
                </a:solidFill>
                <a:latin typeface="Arial"/>
              </a:defRPr>
            </a:pPr>
            <a:r>
              <a:t>• budget telemetry</a:t>
            </a:r>
          </a:p>
          <a:p>
            <a:r>
              <a:t>• threshold tuning</a:t>
            </a:r>
          </a:p>
          <a:p>
            <a:r>
              <a:t>• beta feedback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22247" y="975359"/>
            <a:ext cx="9347200" cy="394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40" b="1">
                <a:solidFill>
                  <a:srgbClr val="0F172A"/>
                </a:solidFill>
                <a:latin typeface="Arial"/>
              </a:defRPr>
            </a:pPr>
            <a:r>
              <a:t>Detailed HMR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2961640"/>
            <a:ext cx="1635760" cy="7010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User Request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73807" y="3312160"/>
            <a:ext cx="467360" cy="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41167" y="2727960"/>
            <a:ext cx="1752600" cy="116840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Semantic Cache</a:t>
            </a:r>
          </a:p>
          <a:p>
            <a:r>
              <a:t>(Embeddings)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3817467" y="2611120"/>
            <a:ext cx="3505200" cy="11684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27447" y="1734820"/>
            <a:ext cx="2103120" cy="18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10B981"/>
                </a:solidFill>
                <a:latin typeface="Arial"/>
              </a:defRPr>
            </a:pPr>
            <a:r>
              <a:t>Cache Hit (0 tokens)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93767" y="3312160"/>
            <a:ext cx="467360" cy="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3247" y="3020060"/>
            <a:ext cx="1402080" cy="2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60" b="0">
                <a:solidFill>
                  <a:srgbClr val="64748B"/>
                </a:solidFill>
                <a:latin typeface="Arial"/>
              </a:defRPr>
            </a:pPr>
            <a:r>
              <a:t>Miss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1127" y="2727960"/>
            <a:ext cx="1752600" cy="1168400"/>
          </a:xfrm>
          <a:prstGeom prst="roundRect">
            <a:avLst/>
          </a:prstGeom>
          <a:solidFill>
            <a:srgbClr val="FFF7ED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Predictive Gate</a:t>
            </a:r>
          </a:p>
          <a:p>
            <a:r>
              <a:t>(Complexity / Len)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7427" y="3896360"/>
            <a:ext cx="2921000" cy="58420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95847" y="4772660"/>
            <a:ext cx="2336800" cy="18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F43F5E"/>
                </a:solidFill>
                <a:latin typeface="Arial"/>
              </a:defRPr>
            </a:pPr>
            <a:r>
              <a:t>Bypass Local (Hard Query)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13727" y="3312160"/>
            <a:ext cx="467360" cy="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63207" y="3020060"/>
            <a:ext cx="1402080" cy="2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60" b="0">
                <a:solidFill>
                  <a:srgbClr val="64748B"/>
                </a:solidFill>
                <a:latin typeface="Arial"/>
              </a:defRPr>
            </a:pPr>
            <a:r>
              <a:t>Local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1087" y="2727960"/>
            <a:ext cx="1752600" cy="11684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Local Cascade</a:t>
            </a:r>
          </a:p>
          <a:p>
            <a:r>
              <a:t>(Qwen 0.5B)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33687" y="3312160"/>
            <a:ext cx="467360" cy="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047" y="2727960"/>
            <a:ext cx="1635760" cy="1168400"/>
          </a:xfrm>
          <a:prstGeom prst="roundRect">
            <a:avLst/>
          </a:prstGeom>
          <a:solidFill>
            <a:srgbClr val="E2E8F0"/>
          </a:solidFill>
          <a:ln w="381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Trust Evaluator</a:t>
            </a:r>
          </a:p>
          <a:p>
            <a:r>
              <a:t>(Entropy, Consistency)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9016847" y="3896360"/>
            <a:ext cx="1402080" cy="46736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81087" y="4246880"/>
            <a:ext cx="1635760" cy="701040"/>
          </a:xfrm>
          <a:prstGeom prst="roundRect">
            <a:avLst/>
          </a:prstGeom>
          <a:solidFill>
            <a:srgbClr val="FFF1F2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Remote Tier</a:t>
            </a:r>
          </a:p>
          <a:p>
            <a:r>
              <a:t>(Llama 70B)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047" y="858519"/>
            <a:ext cx="1635760" cy="7010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Return Response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198967" y="1910079"/>
            <a:ext cx="1986280" cy="2336801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418927" y="1559559"/>
            <a:ext cx="0" cy="1168401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84207" y="5181600"/>
            <a:ext cx="1869440" cy="817880"/>
          </a:xfrm>
          <a:prstGeom prst="roundRect">
            <a:avLst/>
          </a:prstGeom>
          <a:solidFill>
            <a:srgbClr val="FFF7ED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60" b="1">
                <a:solidFill>
                  <a:srgbClr val="0F172A"/>
                </a:solidFill>
                <a:latin typeface="Arial"/>
              </a:defRPr>
            </a:pPr>
            <a:r>
              <a:t>Budget telemetry</a:t>
            </a:r>
          </a:p>
          <a:p>
            <a:r>
              <a:t>Adjuster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0418927" y="5064760"/>
            <a:ext cx="0" cy="116840"/>
          </a:xfrm>
          <a:prstGeom prst="line">
            <a:avLst/>
          </a:prstGeom>
          <a:ln w="38100">
            <a:solidFill>
              <a:srgbClr val="64748B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09547" y="1943100"/>
            <a:ext cx="914400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20" b="1">
                <a:solidFill>
                  <a:srgbClr val="0F172A"/>
                </a:solidFill>
                <a:latin typeface="Arial"/>
              </a:defRPr>
            </a:pPr>
            <a:r>
              <a:t>Step-by-Step Data Flow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3086100"/>
            <a:ext cx="2286000" cy="18288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347" y="3257550"/>
            <a:ext cx="2057400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1. Input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347" y="3771900"/>
            <a:ext cx="2057400" cy="19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"Write python code</a:t>
            </a:r>
          </a:p>
          <a:p>
            <a:r>
              <a:t>to compute Fibonacci</a:t>
            </a:r>
          </a:p>
          <a:p>
            <a:r>
              <a:t>using recursion."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24047" y="4000500"/>
            <a:ext cx="457200" cy="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81247" y="3086100"/>
            <a:ext cx="2286000" cy="1828800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5547" y="3257550"/>
            <a:ext cx="2057400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2. Local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5547" y="3771900"/>
            <a:ext cx="2057400" cy="19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• Qwen 0.5B runs</a:t>
            </a:r>
          </a:p>
          <a:p>
            <a:r>
              <a:t>• Output code generated</a:t>
            </a:r>
          </a:p>
          <a:p>
            <a:r>
              <a:t>• Logprobs gathered</a:t>
            </a:r>
          </a:p>
          <a:p>
            <a:r>
              <a:t>• Temp 0.7 runs x3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67247" y="4000500"/>
            <a:ext cx="457200" cy="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24447" y="3086100"/>
            <a:ext cx="2286000" cy="1828800"/>
          </a:xfrm>
          <a:prstGeom prst="roundRect">
            <a:avLst/>
          </a:prstGeom>
          <a:solidFill>
            <a:srgbClr val="FFF1F2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8747" y="3257550"/>
            <a:ext cx="2057400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3. Trust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3771900"/>
            <a:ext cx="2057400" cy="19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❌ Syntax check: Pass</a:t>
            </a:r>
          </a:p>
          <a:p>
            <a:r>
              <a:t>✔ Mean Entropy: 0.12 (Good)</a:t>
            </a:r>
          </a:p>
          <a:p>
            <a:r>
              <a:t>❌ Consistency: 0.34</a:t>
            </a:r>
          </a:p>
          <a:p>
            <a:r>
              <a:t>(Hallucinating! Escalate)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10447" y="4000500"/>
            <a:ext cx="457200" cy="0"/>
          </a:xfrm>
          <a:prstGeom prst="line">
            <a:avLst/>
          </a:prstGeom>
          <a:ln w="381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067647" y="3086100"/>
            <a:ext cx="2286000" cy="1828800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1947" y="3257550"/>
            <a:ext cx="2057400" cy="267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4. Remote &amp;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1947" y="3771900"/>
            <a:ext cx="2057400" cy="193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• Llama 3 70B queried</a:t>
            </a:r>
          </a:p>
          <a:p>
            <a:r>
              <a:t>• Return robust output</a:t>
            </a:r>
          </a:p>
          <a:p>
            <a:r>
              <a:t>• Save prompt+response</a:t>
            </a:r>
          </a:p>
          <a:p>
            <a:r>
              <a:t>to Semantic Cache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4525" y="864219"/>
            <a:ext cx="10259121" cy="466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20" b="1">
                <a:solidFill>
                  <a:srgbClr val="0F172A"/>
                </a:solidFill>
                <a:latin typeface="Arial"/>
              </a:defRPr>
            </a:pPr>
            <a:r>
              <a:t>Key Internal Modules &amp; File Code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1761892"/>
            <a:ext cx="4873082" cy="1923585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406" y="1954251"/>
            <a:ext cx="4488365" cy="30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UnifiedExecutor (executor.py)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0406" y="2467207"/>
            <a:ext cx="4488365" cy="216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Orchestrates execution lifecycle. Implements static, dynamic cascade, and budget-adaptive routing. Gracefully falls back to best local prediction on API timeouts.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564" y="1761892"/>
            <a:ext cx="4873082" cy="1923585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2923" y="1954251"/>
            <a:ext cx="4488365" cy="30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TrustEvaluator (evaluator.py)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2923" y="2467207"/>
            <a:ext cx="4488365" cy="216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Runs verification checks: compiles Python code for syntax correctness, evaluates entropy signals over token logprobs, and calculates cosine embedding similarity.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047" y="4070195"/>
            <a:ext cx="4873082" cy="1923585"/>
          </a:xfrm>
          <a:prstGeom prst="roundRect">
            <a:avLst/>
          </a:prstGeom>
          <a:solidFill>
            <a:srgbClr val="FFF7ED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0406" y="4262553"/>
            <a:ext cx="4488365" cy="30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SemanticCache (cache.py)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406" y="4775509"/>
            <a:ext cx="4488365" cy="216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Calculates cosine similarity over local prompt embeddings. Serves similar requests instantly at a similarity threshold &gt; 0.95, incurring zero token expense.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0564" y="4070195"/>
            <a:ext cx="4873082" cy="1923585"/>
          </a:xfrm>
          <a:prstGeom prst="roundRect">
            <a:avLst/>
          </a:prstGeom>
          <a:solidFill>
            <a:srgbClr val="E2E8F0"/>
          </a:solidFill>
          <a:ln w="381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2923" y="4262553"/>
            <a:ext cx="4488365" cy="30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BudgetAwareAdjuster (adjuster.py)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2923" y="4775509"/>
            <a:ext cx="4488365" cy="216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Tracks real-time telemetry (burn rate, tasks left). Dynamically lowers/raises thresholds based on budget pressure and category reliability stats.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419" y="1238249"/>
            <a:ext cx="10014857" cy="455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20" b="1">
                <a:solidFill>
                  <a:srgbClr val="0F172A"/>
                </a:solidFill>
                <a:latin typeface="Arial"/>
              </a:defRPr>
            </a:pPr>
            <a:r>
              <a:t>HMR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2364921"/>
            <a:ext cx="3129642" cy="3254828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419" y="2615292"/>
            <a:ext cx="2628900" cy="32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F172A"/>
                </a:solidFill>
                <a:latin typeface="Arial"/>
              </a:defRPr>
            </a:pPr>
            <a:r>
              <a:t>Local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419" y="3241221"/>
            <a:ext cx="2628900" cy="260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40" b="0">
                <a:solidFill>
                  <a:srgbClr val="0F172A"/>
                </a:solidFill>
                <a:latin typeface="Arial"/>
              </a:defRPr>
            </a:pPr>
            <a:r>
              <a:t>• Ollama Instance</a:t>
            </a:r>
          </a:p>
          <a:p>
            <a:r>
              <a:t>• Qwen 2.5 0.5B</a:t>
            </a:r>
          </a:p>
          <a:p>
            <a:r>
              <a:t>• Local Embeddings</a:t>
            </a:r>
          </a:p>
          <a:p>
            <a:r>
              <a:t>• Local Vector Cache</a:t>
            </a:r>
          </a:p>
          <a:p>
            <a:r>
              <a:t>• Zero token charges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31026" y="2364921"/>
            <a:ext cx="3129642" cy="3254828"/>
          </a:xfrm>
          <a:prstGeom prst="roundRect">
            <a:avLst/>
          </a:prstGeom>
          <a:solidFill>
            <a:srgbClr val="FFF1F2"/>
          </a:solidFill>
          <a:ln w="381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81397" y="2615292"/>
            <a:ext cx="2628900" cy="32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F172A"/>
                </a:solidFill>
                <a:latin typeface="Arial"/>
              </a:defRPr>
            </a:pPr>
            <a:r>
              <a:t>Remote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81397" y="3241221"/>
            <a:ext cx="2628900" cy="260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40" b="0">
                <a:solidFill>
                  <a:srgbClr val="0F172A"/>
                </a:solidFill>
                <a:latin typeface="Arial"/>
              </a:defRPr>
            </a:pPr>
            <a:r>
              <a:t>• Fireworks AI API</a:t>
            </a:r>
          </a:p>
          <a:p>
            <a:r>
              <a:t>• Llama 3 70B Instruct</a:t>
            </a:r>
          </a:p>
          <a:p>
            <a:r>
              <a:t>• OpenAI GPT-4o</a:t>
            </a:r>
          </a:p>
          <a:p>
            <a:r>
              <a:t>• Google Gemini</a:t>
            </a:r>
          </a:p>
          <a:p>
            <a:r>
              <a:t>• Groq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4004" y="2364921"/>
            <a:ext cx="3129642" cy="3254828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4376" y="2615292"/>
            <a:ext cx="2628900" cy="325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F172A"/>
                </a:solidFill>
                <a:latin typeface="Arial"/>
              </a:defRPr>
            </a:pPr>
            <a:r>
              <a:t>Agent &amp; 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4376" y="3241221"/>
            <a:ext cx="2628900" cy="260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40" b="0">
                <a:solidFill>
                  <a:srgbClr val="0F172A"/>
                </a:solidFill>
                <a:latin typeface="Arial"/>
              </a:defRPr>
            </a:pPr>
            <a:r>
              <a:t>• FastAPI Interface</a:t>
            </a:r>
          </a:p>
          <a:p>
            <a:r>
              <a:t>• React / Vite Dashboard</a:t>
            </a:r>
          </a:p>
          <a:p>
            <a:r>
              <a:t>• Docker &amp; Compose</a:t>
            </a:r>
          </a:p>
          <a:p>
            <a:r>
              <a:t>• Grid Search Optimizer</a:t>
            </a:r>
          </a:p>
          <a:p>
            <a:r>
              <a:t>• Structured Telemetry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419" y="1113064"/>
            <a:ext cx="10014857" cy="455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20" b="1">
                <a:solidFill>
                  <a:srgbClr val="0F172A"/>
                </a:solidFill>
                <a:latin typeface="Arial"/>
              </a:defRPr>
            </a:pPr>
            <a:r>
              <a:t>Key Innovations &amp; Engineering Decisions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38047" y="2114550"/>
            <a:ext cx="5007428" cy="1627414"/>
          </a:xfrm>
          <a:prstGeom prst="roundRect">
            <a:avLst/>
          </a:prstGeom>
          <a:solidFill>
            <a:srgbClr val="EFF6FF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5826" y="2302328"/>
            <a:ext cx="4631871" cy="29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Behavioral &amp; Statistical Trust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5826" y="2803071"/>
            <a:ext cx="4631871" cy="211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Avoids uncalibrated self-confidence. Uses code compilation, logprob token entropy, and cosine similarity over alternative outputs.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46219" y="2114550"/>
            <a:ext cx="5007428" cy="1627414"/>
          </a:xfrm>
          <a:prstGeom prst="roundRect">
            <a:avLst/>
          </a:prstGeom>
          <a:solidFill>
            <a:srgbClr val="ECFDF5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3997" y="2302328"/>
            <a:ext cx="4631871" cy="29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Local Embedding Self-Consistency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3997" y="2803071"/>
            <a:ext cx="4631871" cy="211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Generates alternative responses at temperature=0.7 and checks semantic convergence using local vector embeddings.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8047" y="4117521"/>
            <a:ext cx="5007428" cy="1627414"/>
          </a:xfrm>
          <a:prstGeom prst="roundRect">
            <a:avLst/>
          </a:prstGeom>
          <a:solidFill>
            <a:srgbClr val="FFF7ED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5826" y="4305300"/>
            <a:ext cx="4631871" cy="29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Dynamic Budget Telemetry &amp; Adjustments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5826" y="4806042"/>
            <a:ext cx="4631871" cy="211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Monitors actual-to-target token burn ratios. Tightens/relaxes thresholds to guarantee staying above accuracy floor.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6219" y="4117521"/>
            <a:ext cx="5007428" cy="1627414"/>
          </a:xfrm>
          <a:prstGeom prst="roundRect">
            <a:avLst/>
          </a:prstGeom>
          <a:solidFill>
            <a:srgbClr val="E2E8F0"/>
          </a:solidFill>
          <a:ln w="381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3997" y="4305300"/>
            <a:ext cx="4631871" cy="29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Predictive Routing Gate Heuristics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3997" y="4806042"/>
            <a:ext cx="4631871" cy="211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Prevents wasting local tokens. Detects complex domain keywords (integral, calculus, concurrency) to route directly to remote.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047" y="1062990"/>
            <a:ext cx="10515600" cy="47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20" b="1">
                <a:solidFill>
                  <a:srgbClr val="0F172A"/>
                </a:solidFill>
                <a:latin typeface="Arial"/>
              </a:defRPr>
            </a:pPr>
            <a:r>
              <a:t>Future Improvements &amp;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95272" y="2114550"/>
            <a:ext cx="9201150" cy="105156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8162" y="2311717"/>
            <a:ext cx="8675370" cy="307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1. Reinforcement Learning (Bandit Optimization)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8162" y="2706052"/>
            <a:ext cx="8675370" cy="222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Train a lightweight multi-armed bandit to continuously learn optimal routing coefficients.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95272" y="3429000"/>
            <a:ext cx="9201150" cy="105156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58162" y="3626167"/>
            <a:ext cx="8675370" cy="307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2. Parallel Consistency Sampling (Batching)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8162" y="4020502"/>
            <a:ext cx="8675370" cy="222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Speed up local model execution by evaluating consistency queries in parallel batches.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5272" y="4743450"/>
            <a:ext cx="9201150" cy="105156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8162" y="4940617"/>
            <a:ext cx="8675370" cy="307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20" b="0">
                <a:solidFill>
                  <a:srgbClr val="0F172A"/>
                </a:solidFill>
                <a:latin typeface="Arial"/>
              </a:defRPr>
            </a:pPr>
            <a:r>
              <a:t>3. Multi-Model Local Quantization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8162" y="5334952"/>
            <a:ext cx="8675370" cy="222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70" b="0">
                <a:solidFill>
                  <a:srgbClr val="0F172A"/>
                </a:solidFill>
                <a:latin typeface="Arial"/>
              </a:defRPr>
            </a:pPr>
            <a:r>
              <a:t>Calibrate custom Quantized profiles (GGUF/AWQ) on device to maximize local reasoning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047" y="724988"/>
            <a:ext cx="10515600" cy="5408022"/>
          </a:xfrm>
          <a:prstGeom prst="roundRect">
            <a:avLst/>
          </a:prstGeom>
          <a:solidFill>
            <a:srgbClr val="EFF6FF"/>
          </a:solidFill>
          <a:ln w="571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89161" y="1325880"/>
            <a:ext cx="9013371" cy="703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40" b="1">
                <a:solidFill>
                  <a:srgbClr val="0F172A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89161" y="2227217"/>
            <a:ext cx="9013371" cy="468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60" b="1">
                <a:solidFill>
                  <a:srgbClr val="475569"/>
                </a:solidFill>
                <a:latin typeface="Arial"/>
              </a:defRPr>
            </a:pPr>
            <a:r>
              <a:t>Hybrid Model Router (HMR)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15833" y="3128554"/>
            <a:ext cx="6760028" cy="901337"/>
          </a:xfrm>
          <a:prstGeom prst="roundRect">
            <a:avLst/>
          </a:prstGeom>
          <a:solidFill>
            <a:srgbClr val="0F172A"/>
          </a:solidFill>
          <a:ln w="381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40" b="1">
                <a:solidFill>
                  <a:srgbClr val="F8FAFC"/>
                </a:solidFill>
                <a:latin typeface="Arial"/>
              </a:defRPr>
            </a:pPr>
            <a:r>
              <a:t>GitHub: github.com/cin-and-cout/hybrid-model-router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9161" y="4330337"/>
            <a:ext cx="9013371" cy="312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40" b="0">
                <a:solidFill>
                  <a:srgbClr val="475569"/>
                </a:solidFill>
                <a:latin typeface="Arial"/>
              </a:defRPr>
            </a:pPr>
            <a:r>
              <a:t>Deployable LLM Routing Agent for Hackathons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